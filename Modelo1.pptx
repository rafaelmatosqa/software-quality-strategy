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c394bc96b447e5" /><Relationship Type="http://schemas.openxmlformats.org/officeDocument/2006/relationships/extended-properties" Target="/docProps/app.xml" Id="R8c209752c7ca46c2" /><Relationship Type="http://schemas.openxmlformats.org/officeDocument/2006/relationships/officeDocument" Target="/ppt/presentation.xml" Id="R972eddfedb7947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5c454920ae4671"/>
  </p:sldMasterIdLst>
  <p:notesMasterIdLst>
    <p:notesMasterId xmlns:r="http://schemas.openxmlformats.org/officeDocument/2006/relationships" r:id="R1d00698d67b741fb"/>
  </p:notesMasterIdLst>
  <p:sldIdLst>
    <p:sldId xmlns:r="http://schemas.openxmlformats.org/officeDocument/2006/relationships" id="256" r:id="Rd70f109c08fd4708"/>
    <p:sldId xmlns:r="http://schemas.openxmlformats.org/officeDocument/2006/relationships" id="257" r:id="Rcdb8a77e97364334"/>
    <p:sldId xmlns:r="http://schemas.openxmlformats.org/officeDocument/2006/relationships" id="258" r:id="Re1ae8378306b43e8"/>
    <p:sldId xmlns:r="http://schemas.openxmlformats.org/officeDocument/2006/relationships" id="259" r:id="R3ce8bfcc79f84009"/>
    <p:sldId xmlns:r="http://schemas.openxmlformats.org/officeDocument/2006/relationships" id="260" r:id="Rbc89d275d81b4acb"/>
    <p:sldId xmlns:r="http://schemas.openxmlformats.org/officeDocument/2006/relationships" id="261" r:id="R3d6a491f17a140b0"/>
    <p:sldId xmlns:r="http://schemas.openxmlformats.org/officeDocument/2006/relationships" id="262" r:id="R350d5e159b6348d8"/>
    <p:sldId xmlns:r="http://schemas.openxmlformats.org/officeDocument/2006/relationships" id="263" r:id="R4c1aad23696b45b7"/>
    <p:sldId xmlns:r="http://schemas.openxmlformats.org/officeDocument/2006/relationships" id="264" r:id="R28e399c6ffd142f3"/>
    <p:sldId xmlns:r="http://schemas.openxmlformats.org/officeDocument/2006/relationships" id="265" r:id="R243e1c946c54487a"/>
    <p:sldId xmlns:r="http://schemas.openxmlformats.org/officeDocument/2006/relationships" id="266" r:id="Rfb18f4ff6c95478a"/>
    <p:sldId xmlns:r="http://schemas.openxmlformats.org/officeDocument/2006/relationships" id="267" r:id="Rfa0d785f71d54bd1"/>
    <p:sldId xmlns:r="http://schemas.openxmlformats.org/officeDocument/2006/relationships" id="268" r:id="R87d2a81c8f384183"/>
    <p:sldId xmlns:r="http://schemas.openxmlformats.org/officeDocument/2006/relationships" id="269" r:id="Rd6c16686f3dc4240"/>
    <p:sldId xmlns:r="http://schemas.openxmlformats.org/officeDocument/2006/relationships" id="270" r:id="R8cf095cdc96d47a5"/>
    <p:sldId xmlns:r="http://schemas.openxmlformats.org/officeDocument/2006/relationships" id="271" r:id="R610e2ded8f9c46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295cc0df584b79" /><Relationship Type="http://schemas.openxmlformats.org/officeDocument/2006/relationships/slideMaster" Target="/ppt/slideMasters/slideMaster1.xml" Id="R2d5c454920ae4671" /><Relationship Type="http://schemas.openxmlformats.org/officeDocument/2006/relationships/notesMaster" Target="/ppt/notesMasters/notesMaster1.xml" Id="R1d00698d67b741fb" /><Relationship Type="http://schemas.openxmlformats.org/officeDocument/2006/relationships/presProps" Target="/ppt/presProps.xml" Id="R01bce13b779d4400" /><Relationship Type="http://schemas.openxmlformats.org/officeDocument/2006/relationships/tableStyles" Target="/ppt/tableStyles.xml" Id="R51c97e57a52041f3" /><Relationship Type="http://schemas.openxmlformats.org/officeDocument/2006/relationships/slide" Target="/ppt/slides/slide1.xml" Id="Rd70f109c08fd4708" /><Relationship Type="http://schemas.openxmlformats.org/officeDocument/2006/relationships/slide" Target="/ppt/slides/slide2.xml" Id="Rcdb8a77e97364334" /><Relationship Type="http://schemas.openxmlformats.org/officeDocument/2006/relationships/slide" Target="/ppt/slides/slide3.xml" Id="Re1ae8378306b43e8" /><Relationship Type="http://schemas.openxmlformats.org/officeDocument/2006/relationships/slide" Target="/ppt/slides/slide4.xml" Id="R3ce8bfcc79f84009" /><Relationship Type="http://schemas.openxmlformats.org/officeDocument/2006/relationships/slide" Target="/ppt/slides/slide5.xml" Id="Rbc89d275d81b4acb" /><Relationship Type="http://schemas.openxmlformats.org/officeDocument/2006/relationships/slide" Target="/ppt/slides/slide6.xml" Id="R3d6a491f17a140b0" /><Relationship Type="http://schemas.openxmlformats.org/officeDocument/2006/relationships/slide" Target="/ppt/slides/slide7.xml" Id="R350d5e159b6348d8" /><Relationship Type="http://schemas.openxmlformats.org/officeDocument/2006/relationships/slide" Target="/ppt/slides/slide8.xml" Id="R4c1aad23696b45b7" /><Relationship Type="http://schemas.openxmlformats.org/officeDocument/2006/relationships/slide" Target="/ppt/slides/slide9.xml" Id="R28e399c6ffd142f3" /><Relationship Type="http://schemas.openxmlformats.org/officeDocument/2006/relationships/slide" Target="/ppt/slides/slide10.xml" Id="R243e1c946c54487a" /><Relationship Type="http://schemas.openxmlformats.org/officeDocument/2006/relationships/slide" Target="/ppt/slides/slide11.xml" Id="Rfb18f4ff6c95478a" /><Relationship Type="http://schemas.openxmlformats.org/officeDocument/2006/relationships/slide" Target="/ppt/slides/slide12.xml" Id="Rfa0d785f71d54bd1" /><Relationship Type="http://schemas.openxmlformats.org/officeDocument/2006/relationships/slide" Target="/ppt/slides/slide13.xml" Id="R87d2a81c8f384183" /><Relationship Type="http://schemas.openxmlformats.org/officeDocument/2006/relationships/slide" Target="/ppt/slides/slide14.xml" Id="Rd6c16686f3dc4240" /><Relationship Type="http://schemas.openxmlformats.org/officeDocument/2006/relationships/slide" Target="/ppt/slides/slide15.xml" Id="R8cf095cdc96d47a5" /><Relationship Type="http://schemas.openxmlformats.org/officeDocument/2006/relationships/slide" Target="/ppt/slides/slide16.xml" Id="R610e2ded8f9c46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7461b106874c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990a29c1e9482b" /><Relationship Type="http://schemas.openxmlformats.org/officeDocument/2006/relationships/notesMaster" Target="/ppt/notesMasters/notesMaster1.xml" Id="Rf7bfcea55dcf40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9b334adae34560" /><Relationship Type="http://schemas.openxmlformats.org/officeDocument/2006/relationships/notesMaster" Target="/ppt/notesMasters/notesMaster1.xml" Id="R353eac9df0b745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2c7640404f487e" /><Relationship Type="http://schemas.openxmlformats.org/officeDocument/2006/relationships/notesMaster" Target="/ppt/notesMasters/notesMaster1.xml" Id="R4a68ee466b7b43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7480f29c2a4425" /><Relationship Type="http://schemas.openxmlformats.org/officeDocument/2006/relationships/notesMaster" Target="/ppt/notesMasters/notesMaster1.xml" Id="Rc664ccc0094547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83d637e02a4c7f" /><Relationship Type="http://schemas.openxmlformats.org/officeDocument/2006/relationships/notesMaster" Target="/ppt/notesMasters/notesMaster1.xml" Id="R2476d286d09e47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d14b791df84afa" /><Relationship Type="http://schemas.openxmlformats.org/officeDocument/2006/relationships/notesMaster" Target="/ppt/notesMasters/notesMaster1.xml" Id="R1eaf74a0687145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5f98e852484e61" /><Relationship Type="http://schemas.openxmlformats.org/officeDocument/2006/relationships/notesMaster" Target="/ppt/notesMasters/notesMaster1.xml" Id="Re4ef1a08dfad4f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11b8608bd344c6" /><Relationship Type="http://schemas.openxmlformats.org/officeDocument/2006/relationships/notesMaster" Target="/ppt/notesMasters/notesMaster1.xml" Id="R9c7f01e43fc24c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5bf8e9891244b8" /><Relationship Type="http://schemas.openxmlformats.org/officeDocument/2006/relationships/notesMaster" Target="/ppt/notesMasters/notesMaster1.xml" Id="Rc47f4e0e23684b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c22c6d91e54cee" /><Relationship Type="http://schemas.openxmlformats.org/officeDocument/2006/relationships/notesMaster" Target="/ppt/notesMasters/notesMaster1.xml" Id="Raf6cf6cb4ae641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4986f2c8e6408b" /><Relationship Type="http://schemas.openxmlformats.org/officeDocument/2006/relationships/notesMaster" Target="/ppt/notesMasters/notesMaster1.xml" Id="R92bfa210f63e4c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070041272f4017" /><Relationship Type="http://schemas.openxmlformats.org/officeDocument/2006/relationships/notesMaster" Target="/ppt/notesMasters/notesMaster1.xml" Id="R185a7262adc848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5246bbe67242a3" /><Relationship Type="http://schemas.openxmlformats.org/officeDocument/2006/relationships/notesMaster" Target="/ppt/notesMasters/notesMaster1.xml" Id="R629232ed3b9143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ddd48922094f4c" /><Relationship Type="http://schemas.openxmlformats.org/officeDocument/2006/relationships/notesMaster" Target="/ppt/notesMasters/notesMaster1.xml" Id="R91cd050d38df42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d9b32e99a64f5c" /><Relationship Type="http://schemas.openxmlformats.org/officeDocument/2006/relationships/notesMaster" Target="/ppt/notesMasters/notesMaster1.xml" Id="R05e33ad4ef1443f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c407af7746d4210" /><Relationship Type="http://schemas.openxmlformats.org/officeDocument/2006/relationships/notesMaster" Target="/ppt/notesMasters/notesMaster1.xml" Id="R07680a584c6d40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para discussão e piloto na Tribo Pix. Base: contexto e modelo operacional fornecidos pelo usuário nesta conversa. Exemplos e durações são sugestões, não resultados já obtidos.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para discussão e piloto na Tribo Pix. Base: contexto e modelo operacional fornecidos pelo usuário nesta conversa. Exemplos e durações são sugestões, não resultados já obtidos.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para discussão e piloto na Tribo Pix. Base: contexto e modelo operacional fornecidos pelo usuário nesta conversa. Exemplos e durações são sugestões, não resultados já obtidos.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para discussão e piloto na Tribo Pix. Base: contexto e modelo operacional fornecidos pelo usuário nesta conversa. Exemplos e durações são sugestões, não resultados já obtidos.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para discussão e piloto na Tribo Pix. Base: contexto e modelo operacional fornecidos pelo usuário nesta conversa. Exemplos e durações são sugestões, não resultados já obtidos.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para discussão e piloto na Tribo Pix. Base: contexto e modelo operacional fornecidos pelo usuário nesta conversa. Exemplos e durações são sugestões, não resultados já obtidos.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para discussão e piloto na Tribo Pix. Base: contexto e modelo operacional fornecidos pelo usuário nesta conversa. Exemplos e durações são sugestões, não resultados já obtidos.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para discussão e piloto na Tribo Pix. Base: contexto e modelo operacional fornecidos pelo usuário nesta conversa. Exemplos e durações são sugestões, não resultados já obtidos.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para discussão e piloto na Tribo Pix. Base: contexto e modelo operacional fornecidos pelo usuário nesta conversa. Exemplos e durações são sugestões, não resultados já obtidos.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para discussão e piloto na Tribo Pix. Base: contexto e modelo operacional fornecidos pelo usuário nesta conversa. Exemplos e durações são sugestões, não resultados já obtidos.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para discussão e piloto na Tribo Pix. Base: contexto e modelo operacional fornecidos pelo usuário nesta conversa. Exemplos e durações são sugestões, não resultados já obtidos.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para discussão e piloto na Tribo Pix. Base: contexto e modelo operacional fornecidos pelo usuário nesta conversa. Exemplos e durações são sugestões, não resultados já obtidos.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para discussão e piloto na Tribo Pix. Base: contexto e modelo operacional fornecidos pelo usuário nesta conversa. Exemplos e durações são sugestões, não resultados já obtidos.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para discussão e piloto na Tribo Pix. Base: contexto e modelo operacional fornecidos pelo usuário nesta conversa. Exemplos e durações são sugestões, não resultados já obtidos.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para discussão e piloto na Tribo Pix. Base: contexto e modelo operacional fornecidos pelo usuário nesta conversa. Exemplos e durações são sugestões, não resultados já obtidos.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para discussão e piloto na Tribo Pix. Base: contexto e modelo operacional fornecidos pelo usuário nesta conversa. Exemplos e durações são sugestões, não resultados já obtidos.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9124068c441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e453410c740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03a9e7d3e643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082fec10d04d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12ca9389943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acb0da3a245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793513-0728-489D-8F95-58D0121D73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91D1D9-A17B-485B-BAD1-700D4B0F295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18C096-21D8-41F9-9F6D-4F460CFD80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B58634-E053-4DD7-A7D7-2B67742779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0608C5C-1673-44FE-8F36-6146399384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D9A4EC-014F-4CDC-BB12-38BDF4BD99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71D7D9-18A3-40FB-B55E-F04A5C0314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7BCA87-7876-4450-9B8D-1B5CEA968A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04C2EB-ED1E-4331-8E07-A9DDA7C5E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BCE31C-AAD4-498B-A1C5-17061B31C4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66ed732851431c" /><Relationship Type="http://schemas.openxmlformats.org/officeDocument/2006/relationships/slideLayout" Target="/ppt/slideLayouts/slideLayout1.xml" Id="Rcb9a40673c844e90" /><Relationship Type="http://schemas.openxmlformats.org/officeDocument/2006/relationships/slideLayout" Target="/ppt/slideLayouts/slideLayout2.xml" Id="R13e3d00c3bf24019" /><Relationship Type="http://schemas.openxmlformats.org/officeDocument/2006/relationships/slideLayout" Target="/ppt/slideLayouts/slideLayout3.xml" Id="R44f76d6dfc8b4681" /><Relationship Type="http://schemas.openxmlformats.org/officeDocument/2006/relationships/slideLayout" Target="/ppt/slideLayouts/slideLayout4.xml" Id="R6b4140c7cd7840e6" /><Relationship Type="http://schemas.openxmlformats.org/officeDocument/2006/relationships/slideLayout" Target="/ppt/slideLayouts/slideLayout5.xml" Id="R70c016b0abd84f27" /><Relationship Type="http://schemas.openxmlformats.org/officeDocument/2006/relationships/slideLayout" Target="/ppt/slideLayouts/slideLayout6.xml" Id="R7ab581f7a0cf4a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9a40673c844e90"/>
    <p:sldLayoutId xmlns:r="http://schemas.openxmlformats.org/officeDocument/2006/relationships" id="2147483650" r:id="R13e3d00c3bf24019"/>
    <p:sldLayoutId xmlns:r="http://schemas.openxmlformats.org/officeDocument/2006/relationships" id="2147483651" r:id="R44f76d6dfc8b4681"/>
    <p:sldLayoutId xmlns:r="http://schemas.openxmlformats.org/officeDocument/2006/relationships" id="2147483652" r:id="R6b4140c7cd7840e6"/>
    <p:sldLayoutId xmlns:r="http://schemas.openxmlformats.org/officeDocument/2006/relationships" id="2147483653" r:id="R70c016b0abd84f27"/>
    <p:sldLayoutId xmlns:r="http://schemas.openxmlformats.org/officeDocument/2006/relationships" id="2147483654" r:id="R7ab581f7a0cf4a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0c3fca772945a8" /><Relationship Type="http://schemas.openxmlformats.org/officeDocument/2006/relationships/notesSlide" Target="/ppt/notesSlides/notesSlide1.xml" Id="Rc2d1fdf3e2d44d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6a7c5a020d4005" /><Relationship Type="http://schemas.openxmlformats.org/officeDocument/2006/relationships/notesSlide" Target="/ppt/notesSlides/notesSlide2.xml" Id="R9d7e86dbffa849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a4ecd52b9f4238" /><Relationship Type="http://schemas.openxmlformats.org/officeDocument/2006/relationships/notesSlide" Target="/ppt/notesSlides/notesSlide3.xml" Id="R14aebe43608c43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59db0d50dd46a0" /><Relationship Type="http://schemas.openxmlformats.org/officeDocument/2006/relationships/notesSlide" Target="/ppt/notesSlides/notesSlide4.xml" Id="R4e5b32e0ed6e4d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ac3c8acb2d4ee5" /><Relationship Type="http://schemas.openxmlformats.org/officeDocument/2006/relationships/notesSlide" Target="/ppt/notesSlides/notesSlide5.xml" Id="R98ecfe87d11e4b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aca2da7e474b52" /><Relationship Type="http://schemas.openxmlformats.org/officeDocument/2006/relationships/notesSlide" Target="/ppt/notesSlides/notesSlide6.xml" Id="R89d30cbec13341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2c256ea209401b" /><Relationship Type="http://schemas.openxmlformats.org/officeDocument/2006/relationships/notesSlide" Target="/ppt/notesSlides/notesSlide7.xml" Id="R6407350078644a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0945b56833462a" /><Relationship Type="http://schemas.openxmlformats.org/officeDocument/2006/relationships/notesSlide" Target="/ppt/notesSlides/notesSlide8.xml" Id="Rcb46a08a69124c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48ebff9c5647fb" /><Relationship Type="http://schemas.openxmlformats.org/officeDocument/2006/relationships/notesSlide" Target="/ppt/notesSlides/notesSlide9.xml" Id="R1d20f082112d42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b54ada936046ab" /><Relationship Type="http://schemas.openxmlformats.org/officeDocument/2006/relationships/notesSlide" Target="/ppt/notesSlides/notesSlide10.xml" Id="Rce6c1d978d734a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fcbbf548df46d6" /><Relationship Type="http://schemas.openxmlformats.org/officeDocument/2006/relationships/notesSlide" Target="/ppt/notesSlides/notesSlide11.xml" Id="Re5b17948cdf240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4753e0d8314d79" /><Relationship Type="http://schemas.openxmlformats.org/officeDocument/2006/relationships/notesSlide" Target="/ppt/notesSlides/notesSlide12.xml" Id="Rec5674fd336f46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5e85bbd5344918" /><Relationship Type="http://schemas.openxmlformats.org/officeDocument/2006/relationships/notesSlide" Target="/ppt/notesSlides/notesSlide13.xml" Id="R2a6d0164d69040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f7d8501eee47ee" /><Relationship Type="http://schemas.openxmlformats.org/officeDocument/2006/relationships/notesSlide" Target="/ppt/notesSlides/notesSlide14.xml" Id="R5fa701743c0d49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e77dbe6ae54dc4" /><Relationship Type="http://schemas.openxmlformats.org/officeDocument/2006/relationships/notesSlide" Target="/ppt/notesSlides/notesSlide15.xml" Id="R15ce687e760e47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efe911367e4a99" /><Relationship Type="http://schemas.openxmlformats.org/officeDocument/2006/relationships/notesSlide" Target="/ppt/notesSlides/notesSlide16.xml" Id="R59d999eece7340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02BA4-6214-473D-A077-14B15511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pPr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F2142-17F9-40FE-ACE6-6E337C3D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A266D-CFA9-46B9-A88D-066AAC36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55D0B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55D0B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55D0BF"/>
                </a:solidFill>
                <a:latin typeface="DejaVu Sans"/>
                <a:ea typeface="DejaVu Sans"/>
                <a:cs typeface="DejaVu Sans"/>
              </a:rPr>
              <a:t>TRIBO PIX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323BA-D1FC-4C68-BE73-A13EB5DE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Modelo operacional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 Quality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C48BA-96C7-4AD0-A558-83887824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AFDDD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AFDDD8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AFDDD8"/>
                </a:solidFill>
                <a:latin typeface="DejaVu Sans"/>
                <a:ea typeface="DejaVu Sans"/>
                <a:cs typeface="DejaVu Sans"/>
              </a:rPr>
              <a:t>Upstream e refinamento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A21AC-9A9E-45AB-A157-F84CCED0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Proposta de atuação compartilhada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Rafael Matos Marinho •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1133326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26072-F9A7-45F6-8770-8E30D9E3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rPr>
              <a:t>Participação antecipada do QE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2AD75-E68A-46D4-8050-E5A983E9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Hoje o QE entra somente nos refinamentos. A proposta amplia sua contribuição antes de detalhar as histórias.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BAEE2-2DDF-4453-93C2-0A493529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4A6AB-8CB5-494E-991D-CFC58801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Situação atual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24F0F-EF93-4ABE-921E-E8038A63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Dúvidas sobre regras, impactos e testabilidade aparecem quando as histórias já existem.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37B90-D5BD-48BE-8B24-3A145CC7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Mudança proposta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EAC09-48DF-4C85-BEC4-E2A6C537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Produto convida QE e Engenharia na entrada da iniciativa. O time analisa os riscos antes do detalhamento.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7B5BB-0CEC-4B4C-8E4B-876BB5C6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1E4F6-321F-4E5E-B85C-6C7B92CB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386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Menos decisões tardias e retrabalho. O piloto deve verificar se esse ganho compensa o esforço adicional.</a:t>
            </a:r>
          </a:p>
        </p:txBody>
      </p:sp>
    </p:spTree>
    <p:extLst>
      <p:ext uri="{BB962C8B-B14F-4D97-AF65-F5344CB8AC3E}">
        <p14:creationId xmlns:p14="http://schemas.microsoft.com/office/powerpoint/2010/main" val="709085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51011-FEA2-468D-B703-52213A82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rPr>
              <a:t>Fluxo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BDDCD-4BB3-4963-AC7B-FF6FEDE3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Cinco pontos de colaboração. O time pode aproveitá-los nas cerimônias existentes.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EDC89-C6D8-4924-BEB2-C8469AF0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5BD27-C1E5-477A-AC1F-40BDE8448B2B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238500"/>
                <a:gridCol w="4019550"/>
              </a:tblGrid>
              <a:tr h="658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Etapa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Condução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Saída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 Entrada da iniciativa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Objetivo e jornada afetada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 Análise de qualidade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QE facilita com Engenharia e PO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Impactos, riscos e testabilidade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 Prontidão da iniciativa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Produto + Engenharia + QE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Decisão de avançar ou investigar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 Refinamento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Produto + Dev + QE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Critérios, exemplos e validação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5. Prontidão da história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Time responsável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Condições para desenvolver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6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4D22F-112C-4B50-9B45-B9467968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rPr>
              <a:t>Entrada no upstream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FCFFC-7DA1-4184-9FC2-EDABE10C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Produto aciona QE e Engenharia assim que a iniciativa entra em discussão.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29C22-5953-40CB-A88F-AF24A2BD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DB7F0-875E-43A8-9DA2-151DC572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Insumos mínimos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DBB35-3828-4B23-99FB-A08740E3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Problema, resultado esperado, jornada Pix afetada e restrições conhecidas.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7DBC9-D014-4CC7-A490-74EADE1E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Preparação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13688-81CB-49DA-9D01-708A8A1E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PO apresenta o contexto. Engenharia esboça impactos. QE revisa incidentes e riscos pertinentes.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F486E-C08D-4D45-8979-B30A4AB7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Primeira decisão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18014-A719-47E8-8471-673843DD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386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 trio define a profundidade da análise, quem precisa participar e quais informações faltam.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83EFC-B717-40D6-868D-4E509C17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Saída: iniciativa com responsáveis identificados e próximos passos registrados.</a:t>
            </a:r>
          </a:p>
        </p:txBody>
      </p:sp>
    </p:spTree>
    <p:extLst>
      <p:ext uri="{BB962C8B-B14F-4D97-AF65-F5344CB8AC3E}">
        <p14:creationId xmlns:p14="http://schemas.microsoft.com/office/powerpoint/2010/main" val="1971564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B6240-FAE9-40C4-A0F5-5E1D9F22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rPr>
              <a:t>Upstream: atividades e artefatos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BFA7B-8EF5-4990-B256-A5802DBE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O plano registra decisões suficientes para preparar as histórias.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E2541-8EFE-4FE7-B0D4-DCDB2E80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3F108-63D9-4723-8152-E63683065399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3048000"/>
                <a:gridCol w="3924300"/>
              </a:tblGrid>
              <a:tr h="658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Atividade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Quem conduz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Artefato de saída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Explicar objetivo e escopo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Contexto e resultado esperado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Mapear impactos e dependências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Engenharia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Mapa de domínios e componentes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Explorar falhas e efeitos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QE facilita com PO e Engenharia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Riscos priorizados e tratamento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Avaliar execução e diagnóstico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QE + Engenharia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Dados, ambientes e observabilidade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Propor validação e cenários críticos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QE + Engenharia + 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Estratégia preliminar e jornadas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1053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60BE0-7C23-42A5-AE4D-51ADFC11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rPr>
              <a:t>Como conduzir a análise de riscos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B5CC1-FEF4-49BC-81AE-A80A956E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Sessão sugerida de 45–60 minutos para iniciativas com risco relevante.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19E36-934A-4E9D-86EF-90ECB267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231EA-BB7C-4DFE-9E75-0F7C484C94BF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095875"/>
                <a:gridCol w="3781425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Passo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Pergunta de trabalho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Registro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 Jornada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Onde a mudança altera o comportamento?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Escopo e fronteiras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 Falhas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 que pode falhar e qual seria o efeito?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Risco com causa e consequência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 Prioridade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Qual o impacto e a probabilidade estimada?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Prioridade e justificativa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 Tratamento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Como prevenir, detectar e verificar?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Ação, responsável e prazo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CDD3E-5108-4A68-AC2A-9CD298BD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QE facilita. Produto avalia o efeito no negócio. Engenharia avalia mecanismos técnicos.</a:t>
            </a:r>
          </a:p>
        </p:txBody>
      </p:sp>
    </p:spTree>
    <p:extLst>
      <p:ext uri="{BB962C8B-B14F-4D97-AF65-F5344CB8AC3E}">
        <p14:creationId xmlns:p14="http://schemas.microsoft.com/office/powerpoint/2010/main" val="20079078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631CE-83E5-46CF-BC5D-9116F159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rPr>
              <a:t>Critérios de saída do upstream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EC6EE-60DD-4D35-9B1E-5EA670F4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Produto confirma o propósito. Engenharia confirma os impactos. QE confirma riscos e testabilidade.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AA88D-DD56-42E8-B02D-DF46DFCA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BFB64-F1F7-47DC-A1E3-15C55F9A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Escopo compreendido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64870-63BD-4B42-9E26-1E7CE7AB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Objetivo, jornada e domínios envolvidos têm confirmação dos responsáveis.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E9A8F-A552-467A-B71C-67D4008D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Riscos encaminhados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14F55-65C7-4445-87D3-3F06039D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Riscos relevantes têm tratamento, responsável e prazo. Dúvidas bloqueantes geram investigação antes do refinamento.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C264B-0020-45BD-BF5B-1A539785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Validação viável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89B42-7B7F-45C0-91DF-3C201E5F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386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Cenários críticos e abordagem preliminar existem. Limitações de dados, ambiente e diagnóstico têm ações definidas.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00B5A-6D00-48BC-95D0-8CBBC592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Registro da decisão: pronto para refinar, pronto com pendências ou requer investigação.</a:t>
            </a:r>
          </a:p>
        </p:txBody>
      </p:sp>
    </p:spTree>
    <p:extLst>
      <p:ext uri="{BB962C8B-B14F-4D97-AF65-F5344CB8AC3E}">
        <p14:creationId xmlns:p14="http://schemas.microsoft.com/office/powerpoint/2010/main" val="13229302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96F23-E46F-4408-89F1-50D025AF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rPr>
              <a:t>Refinamento: atividades e artefatos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F8BF6-E785-4D08-B1C4-E8D1DFEA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Produto, Desenvolvimento e QE usam os riscos da iniciativa para detalhar cada história.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DCBCE-2F9D-4547-8A4F-97B2E947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5148B-DC30-4108-964D-E6F12667FDC0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2905125"/>
                <a:gridCol w="3781425"/>
              </a:tblGrid>
              <a:tr h="6588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Atividade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Quem conduz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Saída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Explicar regras e exceções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Comportamento esperado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Esclarecer APIs, eventos e dependências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Dev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Definições técnicas e contratos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Explorar exemplos e limites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QE facilita com PO e Dev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Critérios de aceite e cenários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Definir dados e abordagem de teste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QE + Dev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Pré-condições e responsáveis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Dimensionar regressão e prontidão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QE + Dev + 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Escopo e decisão de início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5644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3A0EB-46E0-4765-ACE7-6184D816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rPr>
              <a:t>Critérios de saída do refinamento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7C495-02CE-489C-AB96-1705964C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Cada história deve estar clara, viável e testável antes do desenvolvimento.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94FEA-A291-4384-8DBF-F37A8A80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FEDDC-0028-4E19-B166-B8EC8569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Comportamento definido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AC836-F9C8-4301-BCE5-247C5393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Critérios de aceite verificáveis, exceções relevantes e contratos acordados. Dúvidas bloqueantes resolvidas.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04E90-C412-451D-AB04-CC850571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Execução preparada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798A1-02F9-4BDE-8942-F8265831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Dependências identificadas. Dados, mocks e ambientes disponíveis ou com entrega planejada antes do uso.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383E7-A926-4FC5-82DD-2B9E6D2C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Validação distribuída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1B64A-07B6-41DE-AF3A-278082B1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386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Riscos ligados aos cenários. Níveis, responsáveis, regressão e evidências de conclusão definidos.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B7108-EC6C-4C0A-8AF4-7C310D73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Uma pendência não bloqueante precisa de dono e prazo. A decisão fica vinculada à história.</a:t>
            </a:r>
          </a:p>
        </p:txBody>
      </p:sp>
    </p:spTree>
    <p:extLst>
      <p:ext uri="{BB962C8B-B14F-4D97-AF65-F5344CB8AC3E}">
        <p14:creationId xmlns:p14="http://schemas.microsoft.com/office/powerpoint/2010/main" val="8680699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AF86D-54A5-4DE6-AA09-7485E9C2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rPr>
              <a:t>Responsabilidades por 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776FD-2C76-4A4F-9957-21146478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Cada responsável produz sua contribuição diretamente no artefato compartilhado.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690E1-B231-452A-A7A0-E21C1E9A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3BE76-5D51-49A2-B780-BE42D36925CF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2428875"/>
                <a:gridCol w="2809875"/>
                <a:gridCol w="2638425"/>
              </a:tblGrid>
              <a:tr h="6588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Entrega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Produto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Engenharia / Dev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QE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Objetivo e regras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Conduz e confirma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Contribui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Questiona e contribui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Mapa de impacto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 jornada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Conduz e confirma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Explora consequências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Riscos e testabilidade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Avalia negócio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Define ações técnicas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Facilita e avalia cobertura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Critérios de aceite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Confirma comportamento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Confirma viabilidade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Confirma verificabilidade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Estratégia e prontidão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 negócio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Assume testes locais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Coordena riscos e validação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98971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8021D-0354-407E-8A5C-D46E5026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rPr>
              <a:t>Plano de Qualidade Evolutivo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BDD4D-9034-459B-8845-A04F9A98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Um plano por iniciativa, com links para histórias, contratos e evidências.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6EF99-2E0A-40D8-964F-B4F64256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38568-8A1E-44F9-93DD-0D8B027E3903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5238750"/>
                <a:gridCol w="3590925"/>
              </a:tblGrid>
              <a:tr h="8810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Momento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Campos do plano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Principal contribuição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Upstream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Objetivo, domínios e componentes</a:t>
                      </a:r>
                    </a:p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Riscos, pontos de atenção e visão das histórias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 define objetivo e escopo</a:t>
                      </a:r>
                    </a:p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Engenharia mapeia impactos</a:t>
                      </a:r>
                    </a:p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QE facilita riscos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Refinamento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Estratégia, cenários críticos e regressão</a:t>
                      </a:r>
                    </a:p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Critérios de conclusão dos testes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PO, Dev e QE detalham</a:t>
                      </a:r>
                    </a:p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comportamentos e validação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Ao longo da iniciativa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Testabilidade e observabilidade</a:t>
                      </a:r>
                    </a:p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Decisões, responsáveis e pendências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Engenharia + QE mantêm</a:t>
                      </a:r>
                    </a:p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dados, diagnóstico e viabilidade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ACEBE-D253-4C47-90F6-D78FEE74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Cada campo amadurece no momento adequado. As histórias mantêm o detalhamento dos cenários.</a:t>
            </a:r>
          </a:p>
        </p:txBody>
      </p:sp>
    </p:spTree>
    <p:extLst>
      <p:ext uri="{BB962C8B-B14F-4D97-AF65-F5344CB8AC3E}">
        <p14:creationId xmlns:p14="http://schemas.microsoft.com/office/powerpoint/2010/main" val="8644997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6B8DD-D748-4B41-A0C6-B2FBA24D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rPr>
              <a:t>Distribuição da validação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30DE2-B752-40BB-B1C3-5F427CFB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A estratégia define a melhor camada para verificar cada risco.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56DD4-F3D3-4EF5-9C8D-F77D5EE7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CB72B-EE26-42D3-8669-C8D236774F37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333875"/>
                <a:gridCol w="4543425"/>
              </a:tblGrid>
              <a:tr h="8810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Camada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Responsabilidade proposta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Foco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Dev executa. QE colabora na estratégia.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Unitários, integração e funcionais locais</a:t>
                      </a:r>
                    </a:p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Regras, limites e falhas controladas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UAT integrado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QE conduz E2E e exploratórios</a:t>
                      </a:r>
                    </a:p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 apoio de Dev e Produto.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Jornadas críticas entre componentes</a:t>
                      </a:r>
                    </a:p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Integrações e efeitos de negócio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Regressão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Dev e QE delimitam por impacto.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Reusar automações pertinentes</a:t>
                      </a:r>
                    </a:p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Proteger jornadas afetadas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5C22A-3C32-443A-8658-53747762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Contratos: usar especificações, schemas e stubs alinhados. Pact não é pré-requisito do piloto.</a:t>
            </a:r>
          </a:p>
        </p:txBody>
      </p:sp>
    </p:spTree>
    <p:extLst>
      <p:ext uri="{BB962C8B-B14F-4D97-AF65-F5344CB8AC3E}">
        <p14:creationId xmlns:p14="http://schemas.microsoft.com/office/powerpoint/2010/main" val="14180504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6D4E4-E090-4D60-91B8-42149225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rPr>
              <a:t>Exemplo: devolução Pix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D29F5-844C-4C8A-B470-A111FBC0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Exemplo ilustrativo. Produto e Engenharia devem confirmar a regra de idempotência aplicável.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AC251-419A-4381-921E-72613C76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DBCC0-A030-4D89-8235-161FD032D35F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6286500"/>
                <a:gridCol w="2495550"/>
              </a:tblGrid>
              <a:tr h="7429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Momento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Decisão / artefato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Responsável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Upstream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Risco: repetição causar movimentação indevida</a:t>
                      </a:r>
                    </a:p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Mapear chamadas, persistência e eventos afetados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QE + PO + Engenharia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Refinamento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Definir o que identifica uma solicitação repetida</a:t>
                      </a:r>
                    </a:p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Acordar resposta e estado final esperado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 + Dev + QE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Validação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Verificar repetição, concorrência e recuperação</a:t>
                      </a:r>
                    </a:p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 dependências controladas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Dev, com apoio de QE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Validação integrada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Comprovar resultado financeiro da jornada</a:t>
                      </a:r>
                    </a:p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 rastreabilidade da transação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QE, com apoio de Dev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4CF1D-D264-4192-8E58-D1103AF3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Oracle e Kafka: verificar os efeitos necessários ao risco e ao resultado da jornada.</a:t>
            </a:r>
          </a:p>
        </p:txBody>
      </p:sp>
    </p:spTree>
    <p:extLst>
      <p:ext uri="{BB962C8B-B14F-4D97-AF65-F5344CB8AC3E}">
        <p14:creationId xmlns:p14="http://schemas.microsoft.com/office/powerpoint/2010/main" val="11391857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D1A79-7C4B-4A4C-ADED-9ECCB8D0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rPr>
              <a:t>Piloto de 30 dias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A0F92-6FB9-4DE9-A53D-6EAE1ABD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Duas ou três iniciativas, com esforço proporcional ao risco e acompanhamento dos responsáveis.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69784-FB5B-41CF-9EC2-64539AAC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6B778-69E2-448F-9193-EEEBEA013D36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6096000"/>
                <a:gridCol w="3352800"/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Semana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Atividade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Saída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Alinhar PO, Engenharia e QE</a:t>
                      </a:r>
                    </a:p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Escolher iniciativas e levantar linha de base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Papéis, plano e critérios mínimos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Analisar qualidade no upstream</a:t>
                      </a:r>
                    </a:p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Registrar riscos e decisões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Iniciativas prontas para refinar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Refinar histórias com os riscos levantados</a:t>
                      </a:r>
                    </a:p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Distribuir validação e dependências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Histórias prontas para desenvolver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Revisar utilidade, esforço e pendências</a:t>
                      </a:r>
                    </a:p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Ajustar o modelo para o próximo ciclo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Decisão sobre continuidade do piloto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9631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66CA5-8F7C-439E-AA55-E87CC174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rPr>
              <a:t>Medição de qualidade e velocidade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A1B10-D027-4E54-8918-96539E17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Hipóteses a verificar. O piloto não pressupõe ganhos nem metas percentuais.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4F628-869C-420D-BAE0-A234AA16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3C41D-B597-432F-9605-3E1EFA0C1B1B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5381625"/>
                <a:gridCol w="2352675"/>
              </a:tblGrid>
              <a:tr h="6191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Indicador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Como medir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Sinal desejado</a:t>
                      </a:r>
                    </a:p>
                  </a:txBody>
                  <a:tcPr marL="91440" marR="91440" marT="45720" marB="45720">
                    <a:solidFill>
                      <a:srgbClr val="102B3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Retrabalho de entendimento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Horas ou histórias reabertas por ambiguidade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Redução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Dúvidas e bloqueios tardios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Histórias que iniciam com impedimentos / iniciadas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Redução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Riscos relevantes tratados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Riscos com ação definida antes do desenvolvimento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Tempo de entrega e falhas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Mediana do ciclo e defeitos escapados por severidade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Menor ciclo sem piora nas falhas</a:t>
                      </a:r>
                    </a:p>
                  </a:txBody>
                  <a:tcPr marL="91440" marR="91440" marT="45720" marB="45720">
                    <a:solidFill>
                      <a:srgbClr val="EBF1F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 da antecipação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Horas de análise por iniciativa e retrabalho evitado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74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Esforço justificável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96808-8E1F-4977-9573-62E1C7FD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Comparar iniciativas semelhantes. Incluir tempo de upstream. Falhas em produção exigem acompanhamento maior.</a:t>
            </a:r>
          </a:p>
        </p:txBody>
      </p:sp>
    </p:spTree>
    <p:extLst>
      <p:ext uri="{BB962C8B-B14F-4D97-AF65-F5344CB8AC3E}">
        <p14:creationId xmlns:p14="http://schemas.microsoft.com/office/powerpoint/2010/main" val="7545865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A7A82-BCFB-4597-B5FF-02DC0262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02B3A"/>
                </a:solidFill>
                <a:latin typeface="DejaVu Sans"/>
                <a:ea typeface="DejaVu Sans"/>
                <a:cs typeface="DejaVu Sans"/>
              </a:rPr>
              <a:t>Acordos para iniciar o piloto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F8BE9-1BBE-407E-9D72-B6F31F20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Proposta para alinhamento entre liderança, Produto, Engenharia e QEs.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615A0-4ADC-48B8-885E-38CCC5D0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A7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D377F-D3DD-456D-A9A0-60D60A3B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Entrada antecipada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E2600-C044-4BD0-A5F2-AE6206C3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PO inclui QE no upstream de iniciativas com risco relevante. Engenharia participa do mapa de impacto.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1CB75-9E86-4881-A927-19AF4FFD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Compromissos explícitos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A411C-308F-4F96-9B44-35A2B338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Cada ação tem responsável e prazo. O trio registra a prontidão da iniciativa e das histórias.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364DD-1C10-45F7-961D-6EAC0A39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Avaliação do modelo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6C9C0-BC69-4073-B342-B4D00351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386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747"/>
                </a:solidFill>
                <a:latin typeface="DejaVu Sans"/>
                <a:ea typeface="DejaVu Sans"/>
                <a:cs typeface="DejaVu Sans"/>
              </a:rPr>
              <a:t>Liderança define iniciativas e participantes. Após 30 dias, o time revisa esforço e primeiros resultados.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3508D-5CAF-4CB0-8BF5-2CE3A831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78"/>
                </a:solidFill>
                <a:latin typeface="DejaVu Sans"/>
                <a:ea typeface="DejaVu Sans"/>
                <a:cs typeface="DejaVu Sans"/>
              </a:rPr>
              <a:t>Decisão solicitada: aprovar o piloto, nomear os responsáveis e reservar a participação no upstream.</a:t>
            </a:r>
          </a:p>
        </p:txBody>
      </p:sp>
    </p:spTree>
    <p:extLst>
      <p:ext uri="{BB962C8B-B14F-4D97-AF65-F5344CB8AC3E}">
        <p14:creationId xmlns:p14="http://schemas.microsoft.com/office/powerpoint/2010/main" val="673993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2026-10-08T12:27:14.6300000Z</dcterms:created>
  <dcterms:modified xsi:type="dcterms:W3CDTF">2026-10-08T12:27:14.6300000Z</dcterms:modified>
</coreProperties>
</file>