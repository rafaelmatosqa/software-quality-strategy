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953A3F-98AB-4E22-8ADD-0DF5B81FB5A4}" v="4" dt="2026-08-20T12:45:20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MATOS" userId="47003234f93de48e" providerId="LiveId" clId="{0BF86938-4494-443F-BACE-1E831425C0C1}"/>
    <pc:docChg chg="undo custSel modSld">
      <pc:chgData name="RAFAEL MATOS" userId="47003234f93de48e" providerId="LiveId" clId="{0BF86938-4494-443F-BACE-1E831425C0C1}" dt="2026-08-20T12:46:49.784" v="52" actId="20577"/>
      <pc:docMkLst>
        <pc:docMk/>
      </pc:docMkLst>
      <pc:sldChg chg="modSp mod">
        <pc:chgData name="RAFAEL MATOS" userId="47003234f93de48e" providerId="LiveId" clId="{0BF86938-4494-443F-BACE-1E831425C0C1}" dt="2026-08-20T12:41:20.027" v="3" actId="20577"/>
        <pc:sldMkLst>
          <pc:docMk/>
          <pc:sldMk cId="0" sldId="256"/>
        </pc:sldMkLst>
        <pc:spChg chg="mod">
          <ac:chgData name="RAFAEL MATOS" userId="47003234f93de48e" providerId="LiveId" clId="{0BF86938-4494-443F-BACE-1E831425C0C1}" dt="2026-08-20T12:41:20.027" v="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RAFAEL MATOS" userId="47003234f93de48e" providerId="LiveId" clId="{0BF86938-4494-443F-BACE-1E831425C0C1}" dt="2026-08-20T12:42:12.696" v="14" actId="20577"/>
        <pc:sldMkLst>
          <pc:docMk/>
          <pc:sldMk cId="0" sldId="261"/>
        </pc:sldMkLst>
        <pc:spChg chg="mod">
          <ac:chgData name="RAFAEL MATOS" userId="47003234f93de48e" providerId="LiveId" clId="{0BF86938-4494-443F-BACE-1E831425C0C1}" dt="2026-08-20T12:41:47.591" v="7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1:58.200" v="12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2:10.235" v="13" actId="20577"/>
          <ac:spMkLst>
            <pc:docMk/>
            <pc:sldMk cId="0" sldId="261"/>
            <ac:spMk id="28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2:12.696" v="14" actId="20577"/>
          <ac:spMkLst>
            <pc:docMk/>
            <pc:sldMk cId="0" sldId="261"/>
            <ac:spMk id="30" creationId="{00000000-0000-0000-0000-000000000000}"/>
          </ac:spMkLst>
        </pc:spChg>
      </pc:sldChg>
      <pc:sldChg chg="addSp delSp modSp mod">
        <pc:chgData name="RAFAEL MATOS" userId="47003234f93de48e" providerId="LiveId" clId="{0BF86938-4494-443F-BACE-1E831425C0C1}" dt="2026-08-20T12:46:49.784" v="52" actId="20577"/>
        <pc:sldMkLst>
          <pc:docMk/>
          <pc:sldMk cId="0" sldId="262"/>
        </pc:sldMkLst>
        <pc:spChg chg="mod">
          <ac:chgData name="RAFAEL MATOS" userId="47003234f93de48e" providerId="LiveId" clId="{0BF86938-4494-443F-BACE-1E831425C0C1}" dt="2026-08-20T12:42:34.536" v="15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3:16.144" v="19" actId="1076"/>
          <ac:spMkLst>
            <pc:docMk/>
            <pc:sldMk cId="0" sldId="262"/>
            <ac:spMk id="4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3:55.501" v="24" actId="47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5:20.529" v="49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5:17.677" v="42" actId="20577"/>
          <ac:spMkLst>
            <pc:docMk/>
            <pc:sldMk cId="0" sldId="262"/>
            <ac:spMk id="14" creationId="{00000000-0000-0000-0000-000000000000}"/>
          </ac:spMkLst>
        </pc:spChg>
        <pc:spChg chg="add del mod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15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27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3:40.019" v="21" actId="1076"/>
          <ac:spMkLst>
            <pc:docMk/>
            <pc:sldMk cId="0" sldId="262"/>
            <ac:spMk id="28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3:55.501" v="24" actId="478"/>
          <ac:spMkLst>
            <pc:docMk/>
            <pc:sldMk cId="0" sldId="262"/>
            <ac:spMk id="35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3:40.019" v="21" actId="1076"/>
          <ac:spMkLst>
            <pc:docMk/>
            <pc:sldMk cId="0" sldId="262"/>
            <ac:spMk id="38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39" creationId="{00000000-0000-0000-0000-000000000000}"/>
          </ac:spMkLst>
        </pc:spChg>
        <pc:spChg chg="add del mod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40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3:55.501" v="24" actId="478"/>
          <ac:spMkLst>
            <pc:docMk/>
            <pc:sldMk cId="0" sldId="262"/>
            <ac:spMk id="47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3:49.693" v="23" actId="1076"/>
          <ac:spMkLst>
            <pc:docMk/>
            <pc:sldMk cId="0" sldId="262"/>
            <ac:spMk id="50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51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3:40.019" v="21" actId="1076"/>
          <ac:spMkLst>
            <pc:docMk/>
            <pc:sldMk cId="0" sldId="262"/>
            <ac:spMk id="52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3:55.501" v="24" actId="478"/>
          <ac:spMkLst>
            <pc:docMk/>
            <pc:sldMk cId="0" sldId="262"/>
            <ac:spMk id="59" creationId="{00000000-0000-0000-0000-000000000000}"/>
          </ac:spMkLst>
        </pc:spChg>
        <pc:spChg chg="add del mod">
          <ac:chgData name="RAFAEL MATOS" userId="47003234f93de48e" providerId="LiveId" clId="{0BF86938-4494-443F-BACE-1E831425C0C1}" dt="2026-08-20T12:45:18.892" v="45" actId="6549"/>
          <ac:spMkLst>
            <pc:docMk/>
            <pc:sldMk cId="0" sldId="262"/>
            <ac:spMk id="60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3:40.019" v="21" actId="1076"/>
          <ac:spMkLst>
            <pc:docMk/>
            <pc:sldMk cId="0" sldId="262"/>
            <ac:spMk id="61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63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3:40.019" v="21" actId="1076"/>
          <ac:spMkLst>
            <pc:docMk/>
            <pc:sldMk cId="0" sldId="262"/>
            <ac:spMk id="64" creationId="{00000000-0000-0000-0000-000000000000}"/>
          </ac:spMkLst>
        </pc:spChg>
        <pc:spChg chg="add del mod">
          <ac:chgData name="RAFAEL MATOS" userId="47003234f93de48e" providerId="LiveId" clId="{0BF86938-4494-443F-BACE-1E831425C0C1}" dt="2026-08-20T12:45:20.066" v="48"/>
          <ac:spMkLst>
            <pc:docMk/>
            <pc:sldMk cId="0" sldId="262"/>
            <ac:spMk id="72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5:19.218" v="46" actId="1076"/>
          <ac:spMkLst>
            <pc:docMk/>
            <pc:sldMk cId="0" sldId="262"/>
            <ac:spMk id="74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75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3:55.501" v="24" actId="478"/>
          <ac:spMkLst>
            <pc:docMk/>
            <pc:sldMk cId="0" sldId="262"/>
            <ac:spMk id="83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3:55.501" v="24" actId="478"/>
          <ac:spMkLst>
            <pc:docMk/>
            <pc:sldMk cId="0" sldId="262"/>
            <ac:spMk id="84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3:40.019" v="21" actId="1076"/>
          <ac:spMkLst>
            <pc:docMk/>
            <pc:sldMk cId="0" sldId="262"/>
            <ac:spMk id="85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5:18.617" v="44" actId="1076"/>
          <ac:spMkLst>
            <pc:docMk/>
            <pc:sldMk cId="0" sldId="262"/>
            <ac:spMk id="86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87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6:49.784" v="52" actId="20577"/>
          <ac:spMkLst>
            <pc:docMk/>
            <pc:sldMk cId="0" sldId="262"/>
            <ac:spMk id="90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3:55.501" v="24" actId="478"/>
          <ac:spMkLst>
            <pc:docMk/>
            <pc:sldMk cId="0" sldId="262"/>
            <ac:spMk id="95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3:55.501" v="24" actId="478"/>
          <ac:spMkLst>
            <pc:docMk/>
            <pc:sldMk cId="0" sldId="262"/>
            <ac:spMk id="96" creationId="{00000000-0000-0000-0000-000000000000}"/>
          </ac:spMkLst>
        </pc:spChg>
        <pc:spChg chg="add del mod">
          <ac:chgData name="RAFAEL MATOS" userId="47003234f93de48e" providerId="LiveId" clId="{0BF86938-4494-443F-BACE-1E831425C0C1}" dt="2026-08-20T12:45:17.343" v="41" actId="478"/>
          <ac:spMkLst>
            <pc:docMk/>
            <pc:sldMk cId="0" sldId="262"/>
            <ac:spMk id="99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5:18.292" v="43" actId="1076"/>
          <ac:spMkLst>
            <pc:docMk/>
            <pc:sldMk cId="0" sldId="262"/>
            <ac:spMk id="100" creationId="{00000000-0000-0000-0000-000000000000}"/>
          </ac:spMkLst>
        </pc:spChg>
        <pc:spChg chg="mod">
          <ac:chgData name="RAFAEL MATOS" userId="47003234f93de48e" providerId="LiveId" clId="{0BF86938-4494-443F-BACE-1E831425C0C1}" dt="2026-08-20T12:45:24.603" v="51" actId="1076"/>
          <ac:spMkLst>
            <pc:docMk/>
            <pc:sldMk cId="0" sldId="262"/>
            <ac:spMk id="101" creationId="{00000000-0000-0000-0000-000000000000}"/>
          </ac:spMkLst>
        </pc:spChg>
        <pc:spChg chg="add del">
          <ac:chgData name="RAFAEL MATOS" userId="47003234f93de48e" providerId="LiveId" clId="{0BF86938-4494-443F-BACE-1E831425C0C1}" dt="2026-08-20T12:44:41.664" v="33" actId="22"/>
          <ac:spMkLst>
            <pc:docMk/>
            <pc:sldMk cId="0" sldId="262"/>
            <ac:spMk id="104" creationId="{1A003836-90B3-77BE-58A6-7F6D6840D7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 err="1"/>
              <a:t>Estratégia</a:t>
            </a:r>
            <a:r>
              <a:rPr dirty="0"/>
              <a:t> </a:t>
            </a:r>
            <a:r>
              <a:rPr dirty="0" err="1"/>
              <a:t>Executiva</a:t>
            </a:r>
            <a:r>
              <a:rPr dirty="0"/>
              <a:t> de </a:t>
            </a:r>
            <a:r>
              <a:rPr dirty="0" err="1"/>
              <a:t>Qualidade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49808" y="25146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CEB"/>
                </a:solidFill>
              </a:defRPr>
            </a:pPr>
            <a:r>
              <a:t>Qualidade em camadas para reduzir feedback tardio, dependência do integrado e gargalos de validação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3977639"/>
            <a:ext cx="6035040" cy="274320"/>
          </a:xfrm>
          <a:prstGeom prst="round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361688"/>
            <a:ext cx="5029200" cy="274320"/>
          </a:xfrm>
          <a:prstGeom prst="round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COMPONENTE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4745736"/>
            <a:ext cx="4023360" cy="274320"/>
          </a:xfrm>
          <a:prstGeom prst="round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CONTRATO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129783"/>
            <a:ext cx="3017520" cy="274320"/>
          </a:xfrm>
          <a:prstGeom prst="roundRect">
            <a:avLst/>
          </a:prstGeom>
          <a:solidFill>
            <a:srgbClr val="2DA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INTEGRADO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5513831"/>
            <a:ext cx="2011680" cy="274320"/>
          </a:xfrm>
          <a:prstGeom prst="round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E2E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t>1. O problema que precisamos resolver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A qualidade está concentrada tardiamente no ciclo de desenvolvimento.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2036"/>
                </a:solidFill>
              </a:defRPr>
            </a:pPr>
            <a:r>
              <a:t>Dev não enxerga toda a cobertura QE  ↔  QE não enxerga toda a cobertura Dev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69080"/>
            <a:ext cx="2514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t>Feedback tardio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Defeitos descobertos depois do deploy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069080"/>
            <a:ext cx="73152" cy="1234440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20440" y="4069080"/>
            <a:ext cx="2514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t>Dependências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Ambiente, APIs, dados, Kafka e terceiros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069080"/>
            <a:ext cx="73152" cy="1234440"/>
          </a:xfrm>
          <a:prstGeom prst="rect">
            <a:avLst/>
          </a:prstGeom>
          <a:solidFill>
            <a:srgbClr val="C1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55080" y="4069080"/>
            <a:ext cx="2514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rPr dirty="0" err="1"/>
              <a:t>Automação</a:t>
            </a:r>
            <a:r>
              <a:rPr dirty="0"/>
              <a:t> </a:t>
            </a:r>
            <a:r>
              <a:rPr dirty="0" err="1"/>
              <a:t>frágil</a:t>
            </a:r>
            <a:endParaRPr dirty="0"/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rPr dirty="0"/>
              <a:t>Flakiness e alto </a:t>
            </a:r>
            <a:r>
              <a:rPr dirty="0" err="1"/>
              <a:t>custo</a:t>
            </a:r>
            <a:r>
              <a:rPr dirty="0"/>
              <a:t> de </a:t>
            </a:r>
            <a:r>
              <a:rPr dirty="0" err="1"/>
              <a:t>manutenção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6355080" y="4069080"/>
            <a:ext cx="73152" cy="1234440"/>
          </a:xfrm>
          <a:prstGeom prst="rect">
            <a:avLst/>
          </a:prstGeom>
          <a:solidFill>
            <a:srgbClr val="C1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89720" y="4069080"/>
            <a:ext cx="2514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rPr dirty="0" err="1"/>
              <a:t>Gargalo</a:t>
            </a:r>
            <a:r>
              <a:rPr dirty="0"/>
              <a:t> QE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vira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da </a:t>
            </a:r>
            <a:r>
              <a:rPr dirty="0" err="1"/>
              <a:t>entrega</a:t>
            </a: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9189720" y="4069080"/>
            <a:ext cx="73152" cy="1234440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02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1737360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E2036"/>
                </a:solidFill>
              </a:defRPr>
            </a:pPr>
            <a:r>
              <a:t>Desenvolvimento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1737360"/>
            <a:ext cx="64008" cy="713232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40280" y="1938528"/>
            <a:ext cx="128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5563"/>
                </a:solidFill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68296" y="1737360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E2036"/>
                </a:solidFill>
              </a:defRPr>
            </a:pPr>
            <a:r>
              <a:t>Testes Dev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8296" y="1737360"/>
            <a:ext cx="64008" cy="713232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05656" y="1938528"/>
            <a:ext cx="128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5563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33672" y="1737360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E2036"/>
                </a:solidFill>
              </a:defRPr>
            </a:pPr>
            <a:r>
              <a:t>Deploy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33672" y="1737360"/>
            <a:ext cx="64008" cy="713232"/>
          </a:xfrm>
          <a:prstGeom prst="rect">
            <a:avLst/>
          </a:prstGeom>
          <a:solidFill>
            <a:srgbClr val="4A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1" y="1938528"/>
            <a:ext cx="128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5563"/>
                </a:solidFill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9048" y="1737360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E2036"/>
                </a:solidFill>
              </a:defRPr>
            </a:pPr>
            <a:r>
              <a:t>Integrado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9048" y="1737360"/>
            <a:ext cx="64008" cy="713232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36408" y="1938528"/>
            <a:ext cx="128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5563"/>
                </a:solidFill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64424" y="1737360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E2036"/>
                </a:solidFill>
              </a:defRPr>
            </a:pPr>
            <a:r>
              <a:t>Testes QE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64424" y="1737360"/>
            <a:ext cx="64008" cy="713232"/>
          </a:xfrm>
          <a:prstGeom prst="rect">
            <a:avLst/>
          </a:prstGeom>
          <a:solidFill>
            <a:srgbClr val="C1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01784" y="1938528"/>
            <a:ext cx="128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5563"/>
                </a:solidFill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29800" y="1737360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E2036"/>
                </a:solidFill>
              </a:defRPr>
            </a:pPr>
            <a:r>
              <a:t>Regressão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1737360"/>
            <a:ext cx="64008" cy="713232"/>
          </a:xfrm>
          <a:prstGeom prst="rect">
            <a:avLst/>
          </a:prstGeom>
          <a:solidFill>
            <a:srgbClr val="C1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Visão de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Qualidade deixa de ser uma etapa executada pelo QE e passa a ser uma capacidade do produto construída por Dev + QE.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63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EDCEB"/>
                </a:solidFill>
              </a:defRPr>
            </a:pPr>
            <a:r>
              <a:t>Não queremos testar menos. Queremos detectar cada problema na camada mais eficiente.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617720"/>
            <a:ext cx="2240280" cy="685800"/>
          </a:xfrm>
          <a:prstGeom prst="round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8188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Mais cedo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617720"/>
            <a:ext cx="2240280" cy="685800"/>
          </a:xfrm>
          <a:prstGeom prst="roundRect">
            <a:avLst/>
          </a:prstGeom>
          <a:solidFill>
            <a:srgbClr val="2DA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48188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Mais rápido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617720"/>
            <a:ext cx="2240280" cy="685800"/>
          </a:xfrm>
          <a:prstGeom prst="round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8188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Mais confiável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4617720"/>
            <a:ext cx="2240280" cy="685800"/>
          </a:xfrm>
          <a:prstGeom prst="round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48188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Menos dependente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t>3. Princípio de 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A estratégia começa pelo risco — não pela ferramenta ou pelo papel.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E2036"/>
                </a:solidFill>
              </a:defRPr>
            </a:pPr>
            <a:r>
              <a:t>1. Qual defeito este teste pretende detectar?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2423160"/>
            <a:ext cx="0" cy="640080"/>
          </a:xfrm>
          <a:prstGeom prst="line">
            <a:avLst/>
          </a:prstGeom>
          <a:ln w="38100">
            <a:solidFill>
              <a:srgbClr val="2DA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5C9A"/>
                </a:solidFill>
              </a:defRPr>
            </a:pPr>
            <a:r>
              <a:t>2. Qual é a camada mais baixa, rápida e confiável capaz de detectá-lo?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09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A5563"/>
                </a:solidFill>
              </a:defRPr>
            </a:pPr>
            <a:r>
              <a:t>Só levamos o cenário para o integrado quando existe um risco que exige componentes reais conectados.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t>4. Arquitetura de testes em camadas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Quanto mais distante do componente, menor o volume e maior o valor de integração.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508760"/>
            <a:ext cx="2743200" cy="658368"/>
          </a:xfrm>
          <a:prstGeom prst="round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00600" y="158191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837943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Jornadas críticas Pix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2377439"/>
            <a:ext cx="4023360" cy="658368"/>
          </a:xfrm>
          <a:prstGeom prst="roundRect">
            <a:avLst/>
          </a:prstGeom>
          <a:solidFill>
            <a:srgbClr val="2DA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2450591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INTEGRADO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706623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Integrações reais entre sistemas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246120"/>
            <a:ext cx="5303520" cy="658368"/>
          </a:xfrm>
          <a:prstGeom prst="round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331927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575303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APIs e eventos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4114800"/>
            <a:ext cx="6583680" cy="658368"/>
          </a:xfrm>
          <a:prstGeom prst="round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418795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COMPONENT /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44398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API + DB + Kafka + stubs + regras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4983479"/>
            <a:ext cx="7863840" cy="658368"/>
          </a:xfrm>
          <a:prstGeom prst="round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80" y="5056631"/>
            <a:ext cx="7680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312664"/>
            <a:ext cx="7680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Regras isoladas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8A30"/>
                </a:solidFill>
              </a:defRPr>
            </a:pPr>
            <a:r>
              <a:t>Menos cenários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1965A"/>
                </a:solidFill>
              </a:defRPr>
            </a:pPr>
            <a:r>
              <a:t>Mais cenários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08760" y="2423160"/>
            <a:ext cx="0" cy="2468880"/>
          </a:xfrm>
          <a:prstGeom prst="line">
            <a:avLst/>
          </a:prstGeom>
          <a:ln w="25400">
            <a:solidFill>
              <a:srgbClr val="4A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2437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rPr dirty="0"/>
              <a:t>5. </a:t>
            </a:r>
            <a:r>
              <a:rPr dirty="0" err="1"/>
              <a:t>Exemplo</a:t>
            </a:r>
            <a:r>
              <a:rPr dirty="0"/>
              <a:t> </a:t>
            </a:r>
            <a:r>
              <a:rPr dirty="0" err="1"/>
              <a:t>aplicado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Um componente pode depender de APIs internas, APIs de outros times, terceiros, banco e Kafka.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1417320"/>
            <a:ext cx="283464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600" b="1">
                <a:solidFill>
                  <a:srgbClr val="0E2036"/>
                </a:solidFill>
              </a:defRPr>
            </a:pPr>
            <a:r>
              <a:rPr dirty="0" err="1"/>
              <a:t>Componente</a:t>
            </a:r>
            <a:r>
              <a:rPr lang="pt-BR" dirty="0"/>
              <a:t> </a:t>
            </a:r>
            <a:r>
              <a:rPr lang="pt-BR" dirty="0" err="1"/>
              <a:t>xxx</a:t>
            </a:r>
            <a:endParaRPr dirty="0"/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negócio</a:t>
            </a:r>
            <a:r>
              <a:rPr dirty="0"/>
              <a:t> + </a:t>
            </a:r>
            <a:r>
              <a:rPr dirty="0" err="1"/>
              <a:t>orquestração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594360" y="1417320"/>
            <a:ext cx="64008" cy="960120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4360" y="2651760"/>
            <a:ext cx="283464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200" b="1">
                <a:solidFill>
                  <a:srgbClr val="0E2036"/>
                </a:solidFill>
              </a:defRPr>
            </a:pPr>
            <a:r>
              <a:rPr dirty="0"/>
              <a:t>API </a:t>
            </a:r>
            <a:r>
              <a:rPr lang="pt-BR" dirty="0"/>
              <a:t>X</a:t>
            </a:r>
            <a:endParaRPr dirty="0"/>
          </a:p>
          <a:p>
            <a:pPr>
              <a:spcBef>
                <a:spcPts val="400"/>
              </a:spcBef>
              <a:defRPr sz="900">
                <a:solidFill>
                  <a:srgbClr val="4A5563"/>
                </a:solidFill>
              </a:defRPr>
            </a:pPr>
            <a:r>
              <a:rPr dirty="0"/>
              <a:t>Interna do </a:t>
            </a:r>
            <a:r>
              <a:rPr dirty="0" err="1"/>
              <a:t>domínio</a:t>
            </a:r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594360" y="2651760"/>
            <a:ext cx="64008" cy="640080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4360" y="3456432"/>
            <a:ext cx="283464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200" b="1">
                <a:solidFill>
                  <a:srgbClr val="0E2036"/>
                </a:solidFill>
              </a:defRPr>
            </a:pPr>
            <a:r>
              <a:rPr dirty="0"/>
              <a:t>API </a:t>
            </a:r>
            <a:r>
              <a:rPr lang="pt-BR" dirty="0"/>
              <a:t>Y</a:t>
            </a:r>
            <a:endParaRPr dirty="0"/>
          </a:p>
          <a:p>
            <a:pPr>
              <a:spcBef>
                <a:spcPts val="400"/>
              </a:spcBef>
              <a:defRPr sz="900">
                <a:solidFill>
                  <a:srgbClr val="4A5563"/>
                </a:solidFill>
              </a:defRPr>
            </a:pPr>
            <a:r>
              <a:rPr dirty="0"/>
              <a:t>Outro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456432"/>
            <a:ext cx="64008" cy="640080"/>
          </a:xfrm>
          <a:prstGeom prst="rect">
            <a:avLst/>
          </a:prstGeom>
          <a:solidFill>
            <a:srgbClr val="2DA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94360" y="4261104"/>
            <a:ext cx="283464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200" b="1">
                <a:solidFill>
                  <a:srgbClr val="0E2036"/>
                </a:solidFill>
              </a:defRPr>
            </a:pPr>
            <a:r>
              <a:rPr dirty="0" err="1"/>
              <a:t>Antifraude</a:t>
            </a:r>
            <a:endParaRPr dirty="0"/>
          </a:p>
          <a:p>
            <a:pPr>
              <a:spcBef>
                <a:spcPts val="400"/>
              </a:spcBef>
              <a:defRPr sz="900">
                <a:solidFill>
                  <a:srgbClr val="4A5563"/>
                </a:solidFill>
              </a:defRPr>
            </a:pPr>
            <a:r>
              <a:rPr dirty="0"/>
              <a:t>Terceiro/externa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261104"/>
            <a:ext cx="64008" cy="640080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94360" y="5065776"/>
            <a:ext cx="283464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200" b="1">
                <a:solidFill>
                  <a:srgbClr val="0E2036"/>
                </a:solidFill>
              </a:defRPr>
            </a:pPr>
            <a:r>
              <a:rPr dirty="0"/>
              <a:t>Kafka</a:t>
            </a:r>
          </a:p>
          <a:p>
            <a:pPr>
              <a:spcBef>
                <a:spcPts val="400"/>
              </a:spcBef>
              <a:defRPr sz="900">
                <a:solidFill>
                  <a:srgbClr val="4A5563"/>
                </a:solidFill>
              </a:defRPr>
            </a:pPr>
            <a:r>
              <a:rPr dirty="0" err="1"/>
              <a:t>Evento</a:t>
            </a:r>
            <a:endParaRPr dirty="0"/>
          </a:p>
        </p:txBody>
      </p:sp>
      <p:sp>
        <p:nvSpPr>
          <p:cNvPr id="35" name="Rectangle 34"/>
          <p:cNvSpPr/>
          <p:nvPr/>
        </p:nvSpPr>
        <p:spPr>
          <a:xfrm>
            <a:off x="594360" y="5065776"/>
            <a:ext cx="64008" cy="640080"/>
          </a:xfrm>
          <a:prstGeom prst="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886200" y="1417320"/>
            <a:ext cx="76352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LOCAL / COMPONENTE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Cobertura ampla de comportamento: regras, 4xx/5xx, timeout, retry, mapping, idempotência e publicação. Dependências controladas por stub/mock.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1417320"/>
            <a:ext cx="64008" cy="1325880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886200" y="2971800"/>
            <a:ext cx="763524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CONTRATO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Compatibilidade de requests, responses e eventos entre consumidor e provedor.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2971800"/>
            <a:ext cx="64008" cy="1051560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886200" y="4251960"/>
            <a:ext cx="76352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INTEGRADO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Poucos cenários para provar comunicação real, configuração, autenticação e fluxos críticos entre componentes.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6200" y="4251960"/>
            <a:ext cx="64008" cy="1325880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6200" y="13062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t>6. Como evitar testes repetitivos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O mesmo fluxo pode existir em mais de uma camada — mas nunca com o mesmo objetivo.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657600" cy="530352"/>
          </a:xfrm>
          <a:prstGeom prst="rect">
            <a:avLst/>
          </a:prstGeom>
          <a:solidFill>
            <a:srgbClr val="0E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4533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Objetivo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17320"/>
            <a:ext cx="1051560" cy="530352"/>
          </a:xfrm>
          <a:prstGeom prst="rect">
            <a:avLst/>
          </a:prstGeom>
          <a:solidFill>
            <a:srgbClr val="0E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54533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417320"/>
            <a:ext cx="1417320" cy="530352"/>
          </a:xfrm>
          <a:prstGeom prst="rect">
            <a:avLst/>
          </a:prstGeom>
          <a:solidFill>
            <a:srgbClr val="0E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1545336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59" y="1417320"/>
            <a:ext cx="1325880" cy="530352"/>
          </a:xfrm>
          <a:prstGeom prst="rect">
            <a:avLst/>
          </a:prstGeom>
          <a:solidFill>
            <a:srgbClr val="0E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59" y="15453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1417320" cy="530352"/>
          </a:xfrm>
          <a:prstGeom prst="rect">
            <a:avLst/>
          </a:prstGeom>
          <a:solidFill>
            <a:srgbClr val="0E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545336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pt-BR" dirty="0"/>
              <a:t>Integrado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9509760" y="1417320"/>
            <a:ext cx="1051560" cy="530352"/>
          </a:xfrm>
          <a:prstGeom prst="rect">
            <a:avLst/>
          </a:prstGeom>
          <a:solidFill>
            <a:srgbClr val="0E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154533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E2E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1947672"/>
            <a:ext cx="36576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084831"/>
            <a:ext cx="3602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3"/>
                </a:solidFill>
              </a:defRPr>
            </a:pPr>
            <a:r>
              <a:t>Regra de negócio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947672"/>
            <a:ext cx="1051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5112" y="2084831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65A"/>
                </a:solidFill>
              </a:defRPr>
            </a:pPr>
            <a:r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1947672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76672" y="2084831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65A"/>
                </a:solidFill>
              </a:defRPr>
            </a:pPr>
            <a:r>
              <a:t>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59" y="1947672"/>
            <a:ext cx="13258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93992" y="2084831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1947672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19871" y="2084831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09760" y="1947672"/>
            <a:ext cx="1051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37192" y="2084831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2523744"/>
            <a:ext cx="365760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" y="2660903"/>
            <a:ext cx="3602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3"/>
                </a:solidFill>
              </a:defRPr>
            </a:pPr>
            <a:r>
              <a:t>Erros / timeout / retry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523744"/>
            <a:ext cx="10515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25112" y="2660903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49240" y="2523744"/>
            <a:ext cx="141732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76672" y="2660903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65A"/>
                </a:solidFill>
              </a:defRPr>
            </a:pPr>
            <a:r>
              <a:t>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59" y="2523744"/>
            <a:ext cx="132588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93992" y="2660903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92440" y="2523744"/>
            <a:ext cx="141732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19871" y="2660903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509760" y="2523744"/>
            <a:ext cx="10515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37192" y="2660903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3099815"/>
            <a:ext cx="36576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3236975"/>
            <a:ext cx="3602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3"/>
                </a:solidFill>
              </a:defRPr>
            </a:pPr>
            <a:r>
              <a:t>Mapping / serialização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099815"/>
            <a:ext cx="1051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25112" y="3236975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49240" y="3099815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76672" y="3236975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65A"/>
                </a:solidFill>
              </a:defRPr>
            </a:pPr>
            <a:r>
              <a:t>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59" y="3099815"/>
            <a:ext cx="13258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93992" y="3236975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3099815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1" y="3236975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509760" y="3099815"/>
            <a:ext cx="1051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37192" y="3236975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0080" y="3675887"/>
            <a:ext cx="365760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" y="3813048"/>
            <a:ext cx="3602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3"/>
                </a:solidFill>
              </a:defRPr>
            </a:pPr>
            <a:r>
              <a:t>Contrato API / Kafka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3675887"/>
            <a:ext cx="10515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25112" y="3813048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349240" y="3675887"/>
            <a:ext cx="141732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376672" y="3813048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766559" y="3675887"/>
            <a:ext cx="132588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793992" y="3813048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65A"/>
                </a:solidFill>
              </a:defRPr>
            </a:pPr>
            <a:r>
              <a:rPr lang="pt-BR" dirty="0"/>
              <a:t>●</a:t>
            </a:r>
            <a:endParaRPr dirty="0"/>
          </a:p>
        </p:txBody>
      </p:sp>
      <p:sp>
        <p:nvSpPr>
          <p:cNvPr id="61" name="Rectangle 60"/>
          <p:cNvSpPr/>
          <p:nvPr/>
        </p:nvSpPr>
        <p:spPr>
          <a:xfrm>
            <a:off x="8092440" y="3675887"/>
            <a:ext cx="141732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19871" y="3813048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509760" y="3675887"/>
            <a:ext cx="10515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537192" y="3813048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0080" y="4251960"/>
            <a:ext cx="36576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7512" y="4389120"/>
            <a:ext cx="3602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3"/>
                </a:solidFill>
              </a:defRPr>
            </a:pPr>
            <a:r>
              <a:t>Comunicação real A → 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7680" y="4251960"/>
            <a:ext cx="1051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325112" y="4389120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349240" y="4251960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376672" y="4389120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766559" y="4251960"/>
            <a:ext cx="13258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93992" y="4389120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092440" y="4251960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19871" y="4389120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65A"/>
                </a:solidFill>
              </a:defRPr>
            </a:pPr>
            <a:r>
              <a:rPr dirty="0"/>
              <a:t>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09760" y="4251960"/>
            <a:ext cx="1051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537192" y="4389120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40080" y="4828031"/>
            <a:ext cx="365760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7512" y="4965192"/>
            <a:ext cx="3602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3"/>
                </a:solidFill>
              </a:defRPr>
            </a:pPr>
            <a:r>
              <a:t>Configuração / autenticação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97680" y="4828031"/>
            <a:ext cx="10515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25112" y="4965192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349240" y="4828031"/>
            <a:ext cx="141732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376672" y="4965192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766559" y="4828031"/>
            <a:ext cx="132588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793992" y="4965192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092440" y="4828031"/>
            <a:ext cx="141732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19871" y="4965192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65A"/>
                </a:solidFill>
              </a:defRPr>
            </a:pPr>
            <a:r>
              <a:rPr dirty="0"/>
              <a:t>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60" y="4828031"/>
            <a:ext cx="10515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537192" y="4965192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40080" y="5404104"/>
            <a:ext cx="36576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67512" y="5541264"/>
            <a:ext cx="36027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3"/>
                </a:solidFill>
              </a:defRPr>
            </a:pPr>
            <a:r>
              <a:rPr dirty="0"/>
              <a:t>Jornada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97680" y="5404104"/>
            <a:ext cx="1051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325112" y="5541264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349240" y="5404104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76672" y="5541264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766559" y="5404104"/>
            <a:ext cx="13258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793992" y="5541264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092440" y="5404104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119871" y="5541264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3"/>
                </a:solidFill>
              </a:defRPr>
            </a:pPr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9509760" y="5404104"/>
            <a:ext cx="1051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537192" y="5541264"/>
            <a:ext cx="996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65A"/>
                </a:solidFill>
              </a:defRPr>
            </a:pPr>
            <a:r>
              <a:t>●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1792" y="61081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5C9A"/>
                </a:solidFill>
              </a:defRPr>
            </a:pP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ouro</a:t>
            </a:r>
            <a:r>
              <a:rPr dirty="0"/>
              <a:t>: se o </a:t>
            </a:r>
            <a:r>
              <a:rPr dirty="0" err="1"/>
              <a:t>integrado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detecta</a:t>
            </a:r>
            <a:r>
              <a:rPr dirty="0"/>
              <a:t> um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, o </a:t>
            </a:r>
            <a:r>
              <a:rPr dirty="0" err="1"/>
              <a:t>cenário</a:t>
            </a:r>
            <a:r>
              <a:rPr dirty="0"/>
              <a:t> </a:t>
            </a:r>
            <a:r>
              <a:rPr dirty="0" err="1"/>
              <a:t>provavelmente</a:t>
            </a:r>
            <a:r>
              <a:rPr dirty="0"/>
              <a:t> é </a:t>
            </a:r>
            <a:r>
              <a:rPr dirty="0" err="1"/>
              <a:t>redundante</a:t>
            </a:r>
            <a:r>
              <a:rPr dirty="0"/>
              <a:t>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t>7. Novo modelo de trabalho Dev + QE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A estratégia de cobertura nasce no refinamento e acompanha a feature até o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971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E2036"/>
                </a:solidFill>
              </a:defRPr>
            </a:pPr>
            <a:r>
              <a:t>Para cada risco relevante, o squad registra quatro decisões: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2514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Risco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O que pode falhar?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73152" cy="1234440"/>
          </a:xfrm>
          <a:prstGeom prst="rect">
            <a:avLst/>
          </a:prstGeom>
          <a:solidFill>
            <a:srgbClr val="C1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20439" y="3657600"/>
            <a:ext cx="2514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Teste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Que comportamento prova segurança?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39" y="3657600"/>
            <a:ext cx="73152" cy="1234440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59" y="3657600"/>
            <a:ext cx="2514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Camada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Onde detectar mais cedo?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657600"/>
            <a:ext cx="73152" cy="1234440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98280" y="3657600"/>
            <a:ext cx="2514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Responsável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Quem implementa e mantém?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3657600"/>
            <a:ext cx="73152" cy="1234440"/>
          </a:xfrm>
          <a:prstGeom prst="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A5563"/>
                </a:solidFill>
              </a:defRPr>
            </a:pPr>
            <a:r>
              <a:t>A cobertura pertence ao squad. Dev e QE podem ter especializações diferentes, mas compartilham a estratégia.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08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1645920"/>
            <a:ext cx="170078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2036"/>
                </a:solidFill>
              </a:defRPr>
            </a:pPr>
            <a:r>
              <a:t>Refinamento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1645920"/>
            <a:ext cx="54864" cy="713232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304288" y="1645920"/>
            <a:ext cx="170078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2036"/>
                </a:solidFill>
              </a:defRPr>
            </a:pPr>
            <a:r>
              <a:t>Análise de risco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04288" y="1645920"/>
            <a:ext cx="54864" cy="713232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151376" y="1645920"/>
            <a:ext cx="170078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2036"/>
                </a:solidFill>
              </a:defRPr>
            </a:pPr>
            <a:r>
              <a:t>Quality Strategy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51376" y="1645920"/>
            <a:ext cx="54864" cy="713232"/>
          </a:xfrm>
          <a:prstGeom prst="rect">
            <a:avLst/>
          </a:prstGeom>
          <a:solidFill>
            <a:srgbClr val="2DA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998464" y="1645920"/>
            <a:ext cx="170078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2036"/>
                </a:solidFill>
              </a:defRPr>
            </a:pPr>
            <a:r>
              <a:t>Implementação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98464" y="1645920"/>
            <a:ext cx="54864" cy="713232"/>
          </a:xfrm>
          <a:prstGeom prst="rect">
            <a:avLst/>
          </a:prstGeom>
          <a:solidFill>
            <a:srgbClr val="4A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845552" y="1645920"/>
            <a:ext cx="170078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2036"/>
                </a:solidFill>
              </a:defRPr>
            </a:pPr>
            <a:r>
              <a:t>Pipeline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45552" y="1645920"/>
            <a:ext cx="54864" cy="713232"/>
          </a:xfrm>
          <a:prstGeom prst="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92640" y="1645920"/>
            <a:ext cx="170078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2036"/>
                </a:solidFill>
              </a:defRPr>
            </a:pPr>
            <a:r>
              <a:t>Integrado seletivo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1645920"/>
            <a:ext cx="54864" cy="713232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t>8. Recuperação da automação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Não corrigir tudo. Primeiro decidir o que merece continuar existindo.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600" b="1">
                <a:solidFill>
                  <a:srgbClr val="0E2036"/>
                </a:solidFill>
              </a:defRPr>
            </a:pPr>
            <a:r>
              <a:t>CRÍTICO</a:t>
            </a:r>
          </a:p>
          <a:p>
            <a:pPr>
              <a:spcBef>
                <a:spcPts val="600"/>
              </a:spcBef>
              <a:defRPr sz="1100">
                <a:solidFill>
                  <a:srgbClr val="4A5563"/>
                </a:solidFill>
              </a:defRPr>
            </a:pPr>
            <a:r>
              <a:t>Precisa funcionar sempre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C1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600" b="1">
                <a:solidFill>
                  <a:srgbClr val="0E2036"/>
                </a:solidFill>
              </a:defRPr>
            </a:pPr>
            <a:r>
              <a:t>ÚTIL</a:t>
            </a:r>
          </a:p>
          <a:p>
            <a:pPr>
              <a:spcBef>
                <a:spcPts val="600"/>
              </a:spcBef>
              <a:defRPr sz="1100">
                <a:solidFill>
                  <a:srgbClr val="4A5563"/>
                </a:solidFill>
              </a:defRPr>
            </a:pPr>
            <a:r>
              <a:t>Mantém valor e cobertura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508760"/>
            <a:ext cx="73152" cy="1417320"/>
          </a:xfrm>
          <a:prstGeom prst="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75320" y="1508760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600" b="1">
                <a:solidFill>
                  <a:srgbClr val="0E2036"/>
                </a:solidFill>
              </a:defRPr>
            </a:pPr>
            <a:r>
              <a:t>SHIFT-LEFT</a:t>
            </a:r>
          </a:p>
          <a:p>
            <a:pPr>
              <a:spcBef>
                <a:spcPts val="600"/>
              </a:spcBef>
              <a:defRPr sz="1100">
                <a:solidFill>
                  <a:srgbClr val="4A5563"/>
                </a:solidFill>
              </a:defRPr>
            </a:pPr>
            <a:r>
              <a:t>Mover para componente/contrato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508760"/>
            <a:ext cx="73152" cy="1417320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3383279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600" b="1">
                <a:solidFill>
                  <a:srgbClr val="0E2036"/>
                </a:solidFill>
              </a:defRPr>
            </a:pPr>
            <a:r>
              <a:t>REDUNDANTE</a:t>
            </a:r>
          </a:p>
          <a:p>
            <a:pPr>
              <a:spcBef>
                <a:spcPts val="600"/>
              </a:spcBef>
              <a:defRPr sz="1100">
                <a:solidFill>
                  <a:srgbClr val="4A5563"/>
                </a:solidFill>
              </a:defRPr>
            </a:pPr>
            <a:r>
              <a:t>Cobertura já existe em outra camada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83279"/>
            <a:ext cx="73152" cy="1417320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60" y="3383279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600" b="1">
                <a:solidFill>
                  <a:srgbClr val="0E2036"/>
                </a:solidFill>
              </a:defRPr>
            </a:pPr>
            <a:r>
              <a:t>OBSOLETO</a:t>
            </a:r>
          </a:p>
          <a:p>
            <a:pPr>
              <a:spcBef>
                <a:spcPts val="600"/>
              </a:spcBef>
              <a:defRPr sz="1100">
                <a:solidFill>
                  <a:srgbClr val="4A5563"/>
                </a:solidFill>
              </a:defRPr>
            </a:pPr>
            <a:r>
              <a:t>Remover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383279"/>
            <a:ext cx="73152" cy="1417320"/>
          </a:xfrm>
          <a:prstGeom prst="rect">
            <a:avLst/>
          </a:prstGeom>
          <a:solidFill>
            <a:srgbClr val="4A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2036"/>
                </a:solidFill>
              </a:defRPr>
            </a:pPr>
            <a:r>
              <a:t>Resultado esperado: regressão integrada menor, mais estável e focada em riscos que realmente exigem integração.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t>9. Como vamos medir 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Volume de testes não é o resultado. O resultado é feedback mais cedo e entrega mais confiável.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Lead time de validação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Tempo da feature em teste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290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Defect Detection Layer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Onde os defeitos são descobertos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73152" cy="1325880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21040" y="1417320"/>
            <a:ext cx="34290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Dependência do integrado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Cenários que só rodam após deploy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417320"/>
            <a:ext cx="73152" cy="1325880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34290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Flaky rate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Instabilidade da automação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73152" cy="1325880"/>
          </a:xfrm>
          <a:prstGeom prst="rect">
            <a:avLst/>
          </a:prstGeom>
          <a:solidFill>
            <a:srgbClr val="C1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60" y="3246120"/>
            <a:ext cx="34290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Automação crítica saudável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% da regressão crítica confiável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246120"/>
            <a:ext cx="73152" cy="1325880"/>
          </a:xfrm>
          <a:prstGeom prst="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3246120"/>
            <a:ext cx="34290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500" b="1">
                <a:solidFill>
                  <a:srgbClr val="0E2036"/>
                </a:solidFill>
              </a:defRPr>
            </a:pPr>
            <a:r>
              <a:t>Defeitos em produção</a:t>
            </a:r>
          </a:p>
          <a:p>
            <a:pPr>
              <a:spcBef>
                <a:spcPts val="600"/>
              </a:spcBef>
              <a:defRPr sz="1000">
                <a:solidFill>
                  <a:srgbClr val="4A5563"/>
                </a:solidFill>
              </a:defRPr>
            </a:pPr>
            <a:r>
              <a:t>Escapes relevantes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246120"/>
            <a:ext cx="73152" cy="1325880"/>
          </a:xfrm>
          <a:prstGeom prst="rect">
            <a:avLst/>
          </a:prstGeom>
          <a:solidFill>
            <a:srgbClr val="4A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5C9A"/>
                </a:solidFill>
              </a:defRPr>
            </a:pPr>
            <a:r>
              <a:t>Sinal de sucesso: defeitos migram de Produção/E2E/Integrado → Contract/Component/Unit.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036"/>
                </a:solidFill>
              </a:defRPr>
            </a:pPr>
            <a:r>
              <a:t>10. Piloto de 6 semanas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3"/>
                </a:solidFill>
              </a:defRPr>
            </a:pPr>
            <a:r>
              <a:t>Provar o modelo em um componente antes de escalar para o produto.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251960"/>
            <a:ext cx="832104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37160" rtlCol="0" anchor="ctr"/>
          <a:lstStyle/>
          <a:p>
            <a:pPr algn="ctr">
              <a:defRPr sz="1600" b="1">
                <a:solidFill>
                  <a:srgbClr val="0E2036"/>
                </a:solidFill>
              </a:defRPr>
            </a:pPr>
            <a:r>
              <a:t>Critério de escolha do piloto</a:t>
            </a:r>
          </a:p>
          <a:p>
            <a:pPr>
              <a:spcBef>
                <a:spcPts val="600"/>
              </a:spcBef>
              <a:defRPr sz="1100">
                <a:solidFill>
                  <a:srgbClr val="4A5563"/>
                </a:solidFill>
              </a:defRPr>
            </a:pPr>
            <a:r>
              <a:t>Componente relevante, com dor real de integração, mas com escopo controlável e time disposto a experimentar.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4251960"/>
            <a:ext cx="73152" cy="1097280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A"/>
                </a:solidFill>
              </a:defRPr>
            </a:pPr>
            <a:r>
              <a:t>11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14173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t>Semana 1 — Baseline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Mapear cobertura, dependências e gargalos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1417320"/>
            <a:ext cx="64008" cy="1234440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434840" y="14173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t>Semana 2 — Quality Map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Classificar testes por risco e camada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1417320"/>
            <a:ext cx="64008" cy="1234440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229600" y="14173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t>Semana 3 — Shift-left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Criar/migrar testes de componente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417320"/>
            <a:ext cx="64008" cy="1234440"/>
          </a:xfrm>
          <a:prstGeom prst="rect">
            <a:avLst/>
          </a:prstGeom>
          <a:solidFill>
            <a:srgbClr val="2DA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0080" y="30175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t>Semana 4 — Pipeline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Executar antes do deploy integrado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017520"/>
            <a:ext cx="64008" cy="1234440"/>
          </a:xfrm>
          <a:prstGeom prst="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434840" y="30175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t>Semana 5 — Limpeza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Remover redundância e obsolescência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4840" y="3017520"/>
            <a:ext cx="64008" cy="1234440"/>
          </a:xfrm>
          <a:prstGeom prst="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229600" y="30175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ctr"/>
          <a:lstStyle/>
          <a:p>
            <a:pPr algn="ctr">
              <a:defRPr sz="1400" b="1">
                <a:solidFill>
                  <a:srgbClr val="0E2036"/>
                </a:solidFill>
              </a:defRPr>
            </a:pPr>
            <a:r>
              <a:t>Semana 6 — Resultado</a:t>
            </a:r>
          </a:p>
          <a:p>
            <a:pPr>
              <a:spcBef>
                <a:spcPts val="400"/>
              </a:spcBef>
              <a:defRPr sz="1000">
                <a:solidFill>
                  <a:srgbClr val="4A5563"/>
                </a:solidFill>
              </a:defRPr>
            </a:pPr>
            <a:r>
              <a:t>Comparar métricas antes × depois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017520"/>
            <a:ext cx="64008" cy="1234440"/>
          </a:xfrm>
          <a:prstGeom prst="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Resultado esperado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Próxima decisão: escolher o componente piloto e iniciar o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920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3D7E6"/>
                </a:solidFill>
              </a:defRPr>
            </a:pPr>
            <a:r>
              <a:t>Qualidade em camadas não transfere responsabilidade para QE — distribui a responsabilidade de qualidade pelo squad.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8"/>
                </a:solidFill>
              </a:defRPr>
            </a:pPr>
            <a: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1600200"/>
            <a:ext cx="3063240" cy="713232"/>
          </a:xfrm>
          <a:prstGeom prst="round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Defeitos mais cedo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1600200"/>
            <a:ext cx="3063240" cy="713232"/>
          </a:xfrm>
          <a:prstGeom prst="round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Menos dependência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1600200"/>
            <a:ext cx="3063240" cy="713232"/>
          </a:xfrm>
          <a:prstGeom prst="roundRect">
            <a:avLst/>
          </a:prstGeom>
          <a:solidFill>
            <a:srgbClr val="2DA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Feedback mais rápido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2651760"/>
            <a:ext cx="3063240" cy="713232"/>
          </a:xfrm>
          <a:prstGeom prst="roundRect">
            <a:avLst/>
          </a:prstGeom>
          <a:solidFill>
            <a:srgbClr val="DC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Menos gargalo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2651760"/>
            <a:ext cx="3063240" cy="713232"/>
          </a:xfrm>
          <a:prstGeom prst="roundRect">
            <a:avLst/>
          </a:prstGeom>
          <a:solidFill>
            <a:srgbClr val="1F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Automação confiável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2651760"/>
            <a:ext cx="3063240" cy="713232"/>
          </a:xfrm>
          <a:prstGeom prst="roundRect">
            <a:avLst/>
          </a:prstGeom>
          <a:solidFill>
            <a:srgbClr val="41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Mais velocidade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847</Words>
  <Application>Microsoft Office PowerPoint</Application>
  <PresentationFormat>Widescreen</PresentationFormat>
  <Paragraphs>179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RAFAEL MATOS</cp:lastModifiedBy>
  <cp:revision>2</cp:revision>
  <dcterms:created xsi:type="dcterms:W3CDTF">2013-01-27T09:14:16Z</dcterms:created>
  <dcterms:modified xsi:type="dcterms:W3CDTF">2026-08-20T12:46:58Z</dcterms:modified>
  <cp:category/>
</cp:coreProperties>
</file>