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244c60de124b80" /><Relationship Type="http://schemas.openxmlformats.org/officeDocument/2006/relationships/extended-properties" Target="/docProps/app.xml" Id="Rf0244759a02a4efc" /><Relationship Type="http://schemas.openxmlformats.org/officeDocument/2006/relationships/officeDocument" Target="/ppt/presentation.xml" Id="R8b081dcc59564b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06c4ff37b40e1"/>
  </p:sldMasterIdLst>
  <p:notesMasterIdLst>
    <p:notesMasterId xmlns:r="http://schemas.openxmlformats.org/officeDocument/2006/relationships" r:id="Rf80fe59a896f442c"/>
  </p:notesMasterIdLst>
  <p:sldIdLst>
    <p:sldId xmlns:r="http://schemas.openxmlformats.org/officeDocument/2006/relationships" id="256" r:id="Re24088134aea422b"/>
    <p:sldId xmlns:r="http://schemas.openxmlformats.org/officeDocument/2006/relationships" id="257" r:id="R8a54c6c486534dc4"/>
    <p:sldId xmlns:r="http://schemas.openxmlformats.org/officeDocument/2006/relationships" id="258" r:id="R008dd90a6ccc4694"/>
    <p:sldId xmlns:r="http://schemas.openxmlformats.org/officeDocument/2006/relationships" id="259" r:id="R8dd11ce640f74747"/>
    <p:sldId xmlns:r="http://schemas.openxmlformats.org/officeDocument/2006/relationships" id="260" r:id="R36c6e83a73a94b1c"/>
    <p:sldId xmlns:r="http://schemas.openxmlformats.org/officeDocument/2006/relationships" id="261" r:id="R7a606bb333924e84"/>
    <p:sldId xmlns:r="http://schemas.openxmlformats.org/officeDocument/2006/relationships" id="262" r:id="R78a3c21ba02b4616"/>
    <p:sldId xmlns:r="http://schemas.openxmlformats.org/officeDocument/2006/relationships" id="263" r:id="R7a291214b23e4d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78a78302c945d9" /><Relationship Type="http://schemas.openxmlformats.org/officeDocument/2006/relationships/slideMaster" Target="/ppt/slideMasters/slideMaster1.xml" Id="R48c06c4ff37b40e1" /><Relationship Type="http://schemas.openxmlformats.org/officeDocument/2006/relationships/notesMaster" Target="/ppt/notesMasters/notesMaster1.xml" Id="Rf80fe59a896f442c" /><Relationship Type="http://schemas.openxmlformats.org/officeDocument/2006/relationships/presProps" Target="/ppt/presProps.xml" Id="R259b59b8af254efd" /><Relationship Type="http://schemas.openxmlformats.org/officeDocument/2006/relationships/tableStyles" Target="/ppt/tableStyles.xml" Id="Rab53eac3065b4d4e" /><Relationship Type="http://schemas.openxmlformats.org/officeDocument/2006/relationships/slide" Target="/ppt/slides/slide1.xml" Id="Re24088134aea422b" /><Relationship Type="http://schemas.openxmlformats.org/officeDocument/2006/relationships/slide" Target="/ppt/slides/slide2.xml" Id="R8a54c6c486534dc4" /><Relationship Type="http://schemas.openxmlformats.org/officeDocument/2006/relationships/slide" Target="/ppt/slides/slide3.xml" Id="R008dd90a6ccc4694" /><Relationship Type="http://schemas.openxmlformats.org/officeDocument/2006/relationships/slide" Target="/ppt/slides/slide4.xml" Id="R8dd11ce640f74747" /><Relationship Type="http://schemas.openxmlformats.org/officeDocument/2006/relationships/slide" Target="/ppt/slides/slide5.xml" Id="R36c6e83a73a94b1c" /><Relationship Type="http://schemas.openxmlformats.org/officeDocument/2006/relationships/slide" Target="/ppt/slides/slide6.xml" Id="R7a606bb333924e84" /><Relationship Type="http://schemas.openxmlformats.org/officeDocument/2006/relationships/slide" Target="/ppt/slides/slide7.xml" Id="R78a3c21ba02b4616" /><Relationship Type="http://schemas.openxmlformats.org/officeDocument/2006/relationships/slide" Target="/ppt/slides/slide8.xml" Id="R7a291214b23e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fd85751c20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934f5396e41eb" /><Relationship Type="http://schemas.openxmlformats.org/officeDocument/2006/relationships/notesMaster" Target="/ppt/notesMasters/notesMaster1.xml" Id="Ra537579be640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833de8bfa042cf" /><Relationship Type="http://schemas.openxmlformats.org/officeDocument/2006/relationships/notesMaster" Target="/ppt/notesMasters/notesMaster1.xml" Id="R567c2fcf9e78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2f15b83524e2f" /><Relationship Type="http://schemas.openxmlformats.org/officeDocument/2006/relationships/notesMaster" Target="/ppt/notesMasters/notesMaster1.xml" Id="Rdae7281d104348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a6c194f89a4512" /><Relationship Type="http://schemas.openxmlformats.org/officeDocument/2006/relationships/notesMaster" Target="/ppt/notesMasters/notesMaster1.xml" Id="R70562d67a36446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4cd6dac7b14b4a" /><Relationship Type="http://schemas.openxmlformats.org/officeDocument/2006/relationships/notesMaster" Target="/ppt/notesMasters/notesMaster1.xml" Id="R4598570d4f3744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9a34f5ec6142ca" /><Relationship Type="http://schemas.openxmlformats.org/officeDocument/2006/relationships/notesMaster" Target="/ppt/notesMasters/notesMaster1.xml" Id="Rbac3b44e1c3342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1d4b4ab1064425" /><Relationship Type="http://schemas.openxmlformats.org/officeDocument/2006/relationships/notesMaster" Target="/ppt/notesMasters/notesMaster1.xml" Id="Rd72388d192534f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417f74e13f4eb5" /><Relationship Type="http://schemas.openxmlformats.org/officeDocument/2006/relationships/notesMaster" Target="/ppt/notesMasters/notesMaster1.xml" Id="Rc32447af153b44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com a coordenação. Autor: Rafael Matos. Base: contexto e proposta discutidos na conversa. Todas as regras de alocação, limites e piloto apresentados são sugestões a pactuar, sem dados de resultado medidos.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 informado: os desenvolvedores passam a assumir testes unitários, de integração e funcionais locais. Os QEs atuam na prevenção no upstream e em automação E2E e exploração no ambiente integrado UAT. Os 15 QEs foram informados no contexto anterior. Benefícios são resultados esperados, ainda sem comprovação quantitativa.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Como aplicar: QE, liderança técnica e PO avaliam impacto financeiro, cliente, segurança, exigências regulatórias, complexidade das integrações e histórico de incidentes no refinamento. Registrar risco, justificativa, responsável e esforço previsto no card. Alto risco não significa dedicação integral automática. A coordenação decide conflitos de prioridade junto a Produto e Tech Lead. Proposta inicial: cada QE acompanha uma iniciativa principal e uma consultiva, revisando o limite conforme esforço real. Iniciativas sem capacidade entram em fila com risco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Upstream: sessão de exemplos com PO e Dev para remover ambiguidades. Mapear dependências e modos de falha. Registrar estratégia enxuta no card: mudança, riscos, validações locais, jornadas E2E, exploração, massa, ambiente, responsáveis e riscos residuais. Downstream: revisar evidências locais com Dev, executar E2E críticos em UAT, realizar sessões exploratórias por risco e comunicar defeitos e riscos. Após release: comparar incidentes com cobertura existente e ajustar a estratégia.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Devs implementam e mantêm os testes unitários, de integração e funcionais locais, incluindo APIs e BFFs. QE apoia desenho, revisa lacunas e lidera os testes de jornadas E2E e exploratórios em UAT. PO define critérios de aceite com o time e prioriza correções. Coordenação gere capacidade e prioridades. A autoridade de release designada pela organização decide a liberação e aceita formalmente riscos residuais, com insumos de QE, Tech Lead e PO. QE tem autonomia para registrar e escalar riscos. Espera-se do time acesso antecipado ao refinamento, documentação, evidências locais e suporte na massa e ambiente.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Regra: testar no menor escopo capaz de detectar a falha com fidelidade. Local: regras, mapeamentos, schema, tratamento de erros, timeout e retentativas com dependências controladas. UAT: compatibilidade real, identidade/permissão, configuração e jornadas entre sistemas. Repetir uma validação só quando o ambiente integrado oferece um sinal adicional de risco. No BFF, focar consumo, orquestração e transformação. Negócio e persistência ficam no backend responsável. Em E2E, selecionar eventos Kafka e dados necessários ao resultado de negócio, evitando verificar detalhes internos sem risco associado. Para web, considerar acessibilidade, responsividade e usabilidade no escopo da mudança.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piloto, prazo sujeito a aprovação. Dias 1–15: selecionar duas iniciativas de riscos diferentes, levantar baseline, registrar responsáveis e capacidade. Dias 16–45: aplicar estratégia e revisar semanalmente gargalos e riscos. Dias 46–60: comparar evidências e decidir ampliar, ajustar ou encerrar. Indicadores: iniciativas elegíveis com QE no refinamento / total elegível. Jornadas críticas priorizadas com E2E estável / total priorizado. Duração mediana da regressão comparável e execuções afetadas por instabilidade. Defeitos e incidentes em produção por severidade, vinculados às mudanças do piloto. Fontes sugeridas: Jira/Zephyr, pipeline e incidentes. Definir metas após baseline. Não usar indicadores para ranquear pessoas.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Sugestões para pactuação na reunião. 1. Aprovar a avaliação de risco no refinamento e os níveis de atuação. 2. Designar quem decide prioridades e estabelecer limite de iniciativas simultâneas por QE, revisto por esforço real. 3. Confirmar Dev responsável por testes locais e QE por estratégia, E2E e exploratórios em UAT. 4. Definir autonomia para registrar e escalar riscos, autoridade de release e forma de aceite. 5. Aprovar piloto de 60 dias, duas iniciativas, responsáveis, indicadores e data de revisão. Fechamento: registrar decisões e pendências em ata com responsável e prazo.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c9ad48e254a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586cdc25b40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71360c2194b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f6865a72c4f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48ee824d643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bdf6669b6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F7A6E63-1001-40F4-AF06-E4149F34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D00490-12D1-4F55-9CA5-DD8E1DAF5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B26F74F-4E79-4C3F-BFA8-DBE0989F01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FFEA04B-725B-4A19-A0E0-2D79E3F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BED929-23C9-4735-ADF8-39D900998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C63419-22E6-4E04-8080-FCC0F66C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0C1F3D-8DEE-497E-8B6F-52C6A693FA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EE32164-90E2-4841-9F3C-1FFFF0674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95A8C41-FC39-4F11-B4F0-EEDA2218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4F70DB-3AB2-469A-B469-7E5478B7D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36D03E-B84C-499E-8F54-AF2C545A16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F74D8F-70B8-40D1-9484-E5EB388C06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9E1D927-1325-42B4-9A1A-4C1B0398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57D169-BF57-42B8-9F31-BCA059F95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63FB04-D8A0-440B-9B89-864846DDAF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bb6fa5abd54760" /><Relationship Type="http://schemas.openxmlformats.org/officeDocument/2006/relationships/slideLayout" Target="/ppt/slideLayouts/slideLayout1.xml" Id="R5b6df9f2354548b4" /><Relationship Type="http://schemas.openxmlformats.org/officeDocument/2006/relationships/slideLayout" Target="/ppt/slideLayouts/slideLayout2.xml" Id="Rb535e76944b549aa" /><Relationship Type="http://schemas.openxmlformats.org/officeDocument/2006/relationships/slideLayout" Target="/ppt/slideLayouts/slideLayout3.xml" Id="Rbab4a5ca9b354049" /><Relationship Type="http://schemas.openxmlformats.org/officeDocument/2006/relationships/slideLayout" Target="/ppt/slideLayouts/slideLayout4.xml" Id="R563f2c59784248d8" /><Relationship Type="http://schemas.openxmlformats.org/officeDocument/2006/relationships/slideLayout" Target="/ppt/slideLayouts/slideLayout5.xml" Id="R286e1992750740ac" /><Relationship Type="http://schemas.openxmlformats.org/officeDocument/2006/relationships/slideLayout" Target="/ppt/slideLayouts/slideLayout6.xml" Id="R9f86874ea79f44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6df9f2354548b4"/>
    <p:sldLayoutId xmlns:r="http://schemas.openxmlformats.org/officeDocument/2006/relationships" id="2147483650" r:id="Rb535e76944b549aa"/>
    <p:sldLayoutId xmlns:r="http://schemas.openxmlformats.org/officeDocument/2006/relationships" id="2147483651" r:id="Rbab4a5ca9b354049"/>
    <p:sldLayoutId xmlns:r="http://schemas.openxmlformats.org/officeDocument/2006/relationships" id="2147483652" r:id="R563f2c59784248d8"/>
    <p:sldLayoutId xmlns:r="http://schemas.openxmlformats.org/officeDocument/2006/relationships" id="2147483653" r:id="R286e1992750740ac"/>
    <p:sldLayoutId xmlns:r="http://schemas.openxmlformats.org/officeDocument/2006/relationships" id="2147483654" r:id="R9f86874ea79f44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a55039e6d4c05" /><Relationship Type="http://schemas.openxmlformats.org/officeDocument/2006/relationships/notesSlide" Target="/ppt/notesSlides/notesSlide1.xml" Id="R48fb88c64f3842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d887556d3493d" /><Relationship Type="http://schemas.openxmlformats.org/officeDocument/2006/relationships/notesSlide" Target="/ppt/notesSlides/notesSlide2.xml" Id="R65fdb170d2f3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c11400e704d35" /><Relationship Type="http://schemas.openxmlformats.org/officeDocument/2006/relationships/notesSlide" Target="/ppt/notesSlides/notesSlide3.xml" Id="R73683f4f0f4e49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05ef0190b4f49" /><Relationship Type="http://schemas.openxmlformats.org/officeDocument/2006/relationships/notesSlide" Target="/ppt/notesSlides/notesSlide4.xml" Id="R7098892b36d14b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ae412cf544bdb" /><Relationship Type="http://schemas.openxmlformats.org/officeDocument/2006/relationships/notesSlide" Target="/ppt/notesSlides/notesSlide5.xml" Id="R571fd01bab81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fea81705140a2" /><Relationship Type="http://schemas.openxmlformats.org/officeDocument/2006/relationships/notesSlide" Target="/ppt/notesSlides/notesSlide6.xml" Id="Rab563abce2c847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799b0bcfa4f09" /><Relationship Type="http://schemas.openxmlformats.org/officeDocument/2006/relationships/notesSlide" Target="/ppt/notesSlides/notesSlide7.xml" Id="Rfb2c764c560b4b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7e3a63fc14010" /><Relationship Type="http://schemas.openxmlformats.org/officeDocument/2006/relationships/notesSlide" Target="/ppt/notesSlides/notesSlide8.xml" Id="Racc0b9ad545a49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2664C-3D2D-4316-A25F-1D1C07C7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Atuação de Quality Engineering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nas iniciativas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41308-6505-4EFD-92B8-5623469E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8C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24D7C-9DCB-4B69-AB6D-C90309BC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5DBC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75DBC4"/>
                </a:solidFill>
                <a:latin typeface="Bitstream Charter"/>
                <a:ea typeface="Bitstream Charter"/>
                <a:cs typeface="Bitstream Charter"/>
              </a:rPr>
              <a:t>Proposta de modelo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55219-2CA7-40ED-9A79-3A5AF4BE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Participação desde o refinamento,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priorização por risco e responsabilidades do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B79D5-1DE3-4440-B108-FB19DE6C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FC8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FC8C5"/>
                </a:solidFill>
                <a:latin typeface="Bitstream Charter"/>
                <a:ea typeface="Bitstream Charter"/>
                <a:cs typeface="Bitstream Charter"/>
              </a:rPr>
              <a:t>Rafael Matos</a:t>
            </a:r>
          </a:p>
          <a:p xmlns:a="http://schemas.openxmlformats.org/drawingml/2006/main">
            <a:pPr>
              <a:defRPr sz="1650" b="0">
                <a:solidFill>
                  <a:srgbClr val="AFC8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FC8C5"/>
                </a:solidFill>
                <a:latin typeface="Bitstream Charter"/>
                <a:ea typeface="Bitstream Charter"/>
                <a:cs typeface="Bitstream Charter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86421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BC800-D304-417E-BFE4-ECAB1FF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Objetivo e princípios do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C73F-CFF2-49D6-BE42-3DC69692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11DA3-A01C-46B0-901B-B67BF322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Contexto: 15 QEs com atuação distribuída entre iniciativas.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42DEA-97A7-40D1-BF4C-577CF3B6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Qualidade é responsabilidade do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05274-DD41-46C8-A720-D8E96BE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QE participa do refinamento e explicita riscos antes do desenvolvimento.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7A117-17B0-43DA-BDB1-8F40758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A intensidade do acompanhamento depende do risco e da capacidade disponível.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AB8AC-1612-417B-A343-016A1352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Cada validação tem um objetivo e um responsável definidos.</a:t>
            </a:r>
          </a:p>
        </p:txBody>
      </p:sp>
    </p:spTree>
    <p:extLst>
      <p:ext uri="{BB962C8B-B14F-4D97-AF65-F5344CB8AC3E}">
        <p14:creationId xmlns:p14="http://schemas.microsoft.com/office/powerpoint/2010/main" val="460052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C222D-D246-4BC6-A6B5-CF8F98BE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Alocação proporcional ao risco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66FAA-C496-49E5-95D1-6825E93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CA9A3-564C-4BF2-A8B4-3070ADC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Avaliação conjunta de QE, Tech Lead e PO no refinamento.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6863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Risco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Exemplo de impacto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Atuação proposta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Baixo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Mudança isolada e reversível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Consulta e revisão da estratégia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Médio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Alteração de fluxo ou integração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Acompanhamento em pontos acordados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Alto / crítico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Dinheiro, segurança ou jornada essencial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Prioridade desde o upstream até o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EF610-AEA9-4B8D-A416-8ADE1E64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Coordenação resolve conflitos de prioridade com Produto e liderança técnica.</a:t>
            </a:r>
          </a:p>
        </p:txBody>
      </p:sp>
    </p:spTree>
    <p:extLst>
      <p:ext uri="{BB962C8B-B14F-4D97-AF65-F5344CB8AC3E}">
        <p14:creationId xmlns:p14="http://schemas.microsoft.com/office/powerpoint/2010/main" val="1439805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67515-E690-408C-A3A6-875AABAB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Atuação no upstream e downstream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8CEC3-9B70-4B9E-866D-DBE449E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67E1D-2C83-4614-AA15-35DB3B74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Upstream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E8D82-43F4-4378-95E2-6DD04484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Downstream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BD965-049A-4303-BAB3-722C4F2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9587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QE questiona critérios de aceite</a:t>
            </a:r>
          </a:p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e identifica modos de falha.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Time define onde testar cada risco</a:t>
            </a:r>
          </a:p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e combina massa e dependências.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22B95-C42B-4C66-AF0E-82BC90F4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51054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QE automatiza jornadas E2E</a:t>
            </a:r>
          </a:p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e explora riscos em UAT.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Time avalia evidências, defeitos</a:t>
            </a:r>
          </a:p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e riscos residuais para o release.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7A1A6-6853-40A7-9E13-92276114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Entrega: estratégia de qualidade</a:t>
            </a:r>
          </a:p>
          <a:p xmlns:a="http://schemas.openxmlformats.org/drawingml/2006/main">
            <a:pPr>
              <a:def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anexada à iniciativa.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FF87A-70DD-484D-9B26-09D9B4FF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Entrega: parecer de qualidade</a:t>
            </a:r>
          </a:p>
          <a:p xmlns:a="http://schemas.openxmlformats.org/drawingml/2006/main">
            <a:pPr>
              <a:def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e ações após o release.</a:t>
            </a:r>
          </a:p>
        </p:txBody>
      </p:sp>
    </p:spTree>
    <p:extLst>
      <p:ext uri="{BB962C8B-B14F-4D97-AF65-F5344CB8AC3E}">
        <p14:creationId xmlns:p14="http://schemas.microsoft.com/office/powerpoint/2010/main" val="395398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9C089-AEEA-423C-B03B-08CDA88A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Responsabilidades e expectativas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93B03-9403-4A32-9470-B874607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Responsável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Compromisso principal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Dev / Tech Lead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Testes locais e evidências antes de UAT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QE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Estratégia, E2E e exploração orientados ao risco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PO / Negócio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Critérios de aceite e prioridade das correções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Coordenação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Capacidade, alocação e resolução de prioridades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Autoridade de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Decisão de liberação e aceite dos riscos residuais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9960B-A7B0-4F5F-8B80-6E6ABCE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O time fornece critérios claros, massa e ambiente viáveis para a validação.</a:t>
            </a:r>
          </a:p>
        </p:txBody>
      </p:sp>
    </p:spTree>
    <p:extLst>
      <p:ext uri="{BB962C8B-B14F-4D97-AF65-F5344CB8AC3E}">
        <p14:creationId xmlns:p14="http://schemas.microsoft.com/office/powerpoint/2010/main" val="340082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EC5E5-919A-40AD-8840-90D6C0AA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Testes locais e jornadas em 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398DE-1FE8-46E1-95C0-6A377C03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33875"/>
                <a:gridCol w="43053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Escopo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Dev no local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QE em UAT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Regras e respostas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Unitário, integração e funcional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Efeito na jornada crítica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Dependências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Erros, timeout e retentativas controlados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Comunicação e configuração reais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Experiência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Estados e comportamentos isolados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Jornada, usabilidade e exploração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EB20A-7AF9-4E3D-9F8B-A0B285CD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85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Exemplo Pix: Dev valida a resposta do BFF. QE valida pagamento e confirmação</a:t>
            </a:r>
          </a:p>
          <a:p xmlns:a="http://schemas.openxmlformats.org/drawingml/2006/main">
            <a:pPr>
              <a:defRPr sz="1875" b="0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na jornada, com evidências dos eventos e dados relevantes.</a:t>
            </a:r>
          </a:p>
        </p:txBody>
      </p:sp>
    </p:spTree>
    <p:extLst>
      <p:ext uri="{BB962C8B-B14F-4D97-AF65-F5344CB8AC3E}">
        <p14:creationId xmlns:p14="http://schemas.microsoft.com/office/powerpoint/2010/main" val="1269125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526DF-E3F3-497A-97B3-D922961E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Indicadores e piloto de 60 dias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AAD60-483A-4603-BB78-E087D6DF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9E7FF-473F-4FF6-8F44-A829F147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Piloto sugerido: duas iniciativas com riscos diferentes.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 que acompanhar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Como avaliar</a:t>
                      </a:r>
                    </a:p>
                  </a:txBody>
                  <a:tcPr marL="91440" marR="91440" marT="45720" marB="45720">
                    <a:solidFill>
                      <a:srgbClr val="142F3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Entrada antecipada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Iniciativas com QE no refinamento / total elegível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Jornadas críticas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Cobertura E2E estável do escopo priorizado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Regressão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Duração e impacto da instabilidade das execuções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Produção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F3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Defeitos e incidentes por severidade e mudança</a:t>
                      </a:r>
                    </a:p>
                  </a:txBody>
                  <a:tcPr marL="91440" marR="91440" marT="45720" marB="45720">
                    <a:solidFill>
                      <a:srgbClr val="EE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9DCED-834C-43BF-8CD6-36BC792D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Dias 1–15: baseline     Dias 16–45: execução     Dias 46–60: avaliação</a:t>
            </a:r>
          </a:p>
        </p:txBody>
      </p:sp>
    </p:spTree>
    <p:extLst>
      <p:ext uri="{BB962C8B-B14F-4D97-AF65-F5344CB8AC3E}">
        <p14:creationId xmlns:p14="http://schemas.microsoft.com/office/powerpoint/2010/main" val="1834295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3122F-C0AF-464B-82BA-FA622AB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Decisões esperadas da coordenação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A80E0-5803-482A-9947-96B8A291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EA644-9660-4A2B-BB3D-CED31008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43168-1EAF-4E8B-ABE8-6256DC3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95450"/>
            <a:ext cx="976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Entrada do QE no refinamento e alocação por risco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63A16-78E3-457E-9EB6-1B52F76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98CFA-81BA-43F2-BD7E-26374BEE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57450"/>
            <a:ext cx="976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Responsável pela prioridade e limite de iniciativas por QE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D0229-B956-4CAD-8F75-F485E3CE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48434-D17B-48F7-A1FA-46CA16F8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19450"/>
            <a:ext cx="976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Responsabilidades de Dev, QE, PO e coordenação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C3D99-98E8-443A-B28E-B786E7AD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E1C1B-BF2B-4DA3-B01F-C321A61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976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Autonomia para escalar riscos e autoridade de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227DF-3001-48C4-B6AE-7E2BF3C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87F6C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AA2D3-9946-4F85-8AEB-B7DC0281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43450"/>
            <a:ext cx="976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F36"/>
                </a:solidFill>
                <a:latin typeface="Bitstream Charter"/>
                <a:ea typeface="Bitstream Charter"/>
                <a:cs typeface="Bitstream Charter"/>
              </a:rPr>
              <a:t>Piloto de 60 dias com responsáveis e data de revisão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5ECD9-9F1D-4B47-8724-31A71502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36A70"/>
                </a:solidFill>
                <a:latin typeface="Bitstream Charter"/>
                <a:ea typeface="Bitstream Charter"/>
                <a:cs typeface="Bitstream Charter"/>
              </a:rPr>
              <a:t>Saída da reunião: decisões registradas com responsável e prazo.</a:t>
            </a:r>
          </a:p>
        </p:txBody>
      </p:sp>
    </p:spTree>
    <p:extLst>
      <p:ext uri="{BB962C8B-B14F-4D97-AF65-F5344CB8AC3E}">
        <p14:creationId xmlns:p14="http://schemas.microsoft.com/office/powerpoint/2010/main" val="692018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2026-10-07T19:00:49.0650000Z</dcterms:created>
  <dcterms:modified xsi:type="dcterms:W3CDTF">2026-10-07T19:00:49.0650000Z</dcterms:modified>
</coreProperties>
</file>